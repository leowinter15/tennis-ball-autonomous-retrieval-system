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75" r:id="rId8"/>
    <p:sldId id="259" r:id="rId9"/>
    <p:sldId id="260" r:id="rId10"/>
    <p:sldId id="261" r:id="rId11"/>
    <p:sldId id="262" r:id="rId12"/>
    <p:sldId id="272" r:id="rId13"/>
    <p:sldId id="263" r:id="rId14"/>
    <p:sldId id="264" r:id="rId15"/>
    <p:sldId id="265" r:id="rId16"/>
    <p:sldId id="266" r:id="rId17"/>
    <p:sldId id="267" r:id="rId18"/>
    <p:sldId id="268" r:id="rId19"/>
    <p:sldId id="273" r:id="rId20"/>
    <p:sldId id="274" r:id="rId21"/>
    <p:sldId id="270" r:id="rId22"/>
    <p:sldId id="276" r:id="rId23"/>
    <p:sldId id="277" r:id="rId24"/>
    <p:sldId id="271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9" Type="http://schemas.openxmlformats.org/officeDocument/2006/relationships/notesSlide" Target="../notesSlides/notesSlide3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jpe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4" Type="http://schemas.openxmlformats.org/officeDocument/2006/relationships/notesSlide" Target="../notesSlides/notesSlide18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34.xml"/><Relationship Id="rId21" Type="http://schemas.openxmlformats.org/officeDocument/2006/relationships/tags" Target="../tags/tag33.xml"/><Relationship Id="rId20" Type="http://schemas.openxmlformats.org/officeDocument/2006/relationships/tags" Target="../tags/tag32.xml"/><Relationship Id="rId2" Type="http://schemas.openxmlformats.org/officeDocument/2006/relationships/tags" Target="../tags/tag16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image" Target="../media/image15.png"/><Relationship Id="rId15" Type="http://schemas.openxmlformats.org/officeDocument/2006/relationships/tags" Target="../tags/tag28.xml"/><Relationship Id="rId14" Type="http://schemas.openxmlformats.org/officeDocument/2006/relationships/image" Target="../media/image14.png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 descr="ChatGPT Image 2026年5月15日 14_37_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6845" y="1260475"/>
            <a:ext cx="6856095" cy="386016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8074152" y="-91440"/>
            <a:ext cx="4114800" cy="45720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" name="Shape 1"/>
          <p:cNvSpPr/>
          <p:nvPr/>
        </p:nvSpPr>
        <p:spPr>
          <a:xfrm>
            <a:off x="502920" y="914400"/>
            <a:ext cx="54864" cy="502920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4" name="Text 2"/>
          <p:cNvSpPr/>
          <p:nvPr/>
        </p:nvSpPr>
        <p:spPr>
          <a:xfrm>
            <a:off x="901700" y="72263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5DD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PRESENTATION  ·  GROUP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AUTONOMOUS MOBILE MANIPULATION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74980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Tennis-Bot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Vision-Guided </a:t>
            </a:r>
            <a:r>
              <a:rPr lang="en-US" sz="2800" i="1" dirty="0">
                <a:solidFill>
                  <a:srgbClr val="5DDDE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Pick-and-Place </a:t>
            </a:r>
            <a:r>
              <a:rPr lang="en-US" sz="28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on a Mobile Robot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7132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C8D6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ROS 2 system integrating YOLOv5 detection, Nav2 autonomous navigation, SLAM mapping and Vosk voice control — built on the DJI RoboMaster EP and Jetson Orin NX.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728210"/>
            <a:ext cx="4671060" cy="1306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b="1" kern="0" spc="4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17</a:t>
            </a:r>
            <a:endParaRPr lang="en-US" sz="1100" b="1" kern="0" spc="400" dirty="0">
              <a:solidFill>
                <a:srgbClr val="00B7C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Presenters: 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Yanshan Wang, Wentian Li</a:t>
            </a:r>
            <a:endParaRPr lang="en-US" altLang="zh-CN" sz="12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Members: 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Yanshan Wang, Wenxin </a:t>
            </a:r>
            <a:r>
              <a:rPr lang="en-US" altLang="zh-CN" sz="1200" b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Xiao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Wentian Li, Guanhong Che</a:t>
            </a: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endParaRPr lang="en-US" altLang="zh-CN" sz="12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FA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Robotics &amp; Embedded Systems Project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FA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2026/5/27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98080" y="5120640"/>
            <a:ext cx="822960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00B7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5120640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5DD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ROS 2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366760" y="5120640"/>
            <a:ext cx="822960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00B7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66760" y="5120640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5DD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YOLOv5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9235440" y="5120640"/>
            <a:ext cx="822960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00B7C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235440" y="5120640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5DD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NAV2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10104120" y="5120640"/>
            <a:ext cx="822960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00B7C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104120" y="5120640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5DD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VOSK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0972800" y="5120640"/>
            <a:ext cx="822960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00B7C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972800" y="5120640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5DD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SLAM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B7C7"/>
          </a:solidFill>
        </p:spPr>
      </p:sp>
      <p:grpSp>
        <p:nvGrpSpPr>
          <p:cNvPr id="25" name="组合 24"/>
          <p:cNvGrpSpPr/>
          <p:nvPr/>
        </p:nvGrpSpPr>
        <p:grpSpPr>
          <a:xfrm>
            <a:off x="327660" y="17780"/>
            <a:ext cx="2293620" cy="704822"/>
            <a:chOff x="4774950" y="460939"/>
            <a:chExt cx="5195069" cy="1575852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774950" y="460939"/>
              <a:ext cx="1575559" cy="1575852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327204" y="765822"/>
              <a:ext cx="3642815" cy="9614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ouc"/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-2341245" y="-1130935"/>
            <a:ext cx="12895580" cy="912050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Presentation Agenda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228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7" name="Shape 5"/>
          <p:cNvSpPr/>
          <p:nvPr/>
        </p:nvSpPr>
        <p:spPr>
          <a:xfrm>
            <a:off x="914400" y="1459230"/>
            <a:ext cx="492125" cy="497205"/>
          </a:xfrm>
          <a:prstGeom prst="ellipse">
            <a:avLst/>
          </a:prstGeom>
          <a:solidFill>
            <a:srgbClr val="0E2A4A"/>
          </a:solidFill>
        </p:spPr>
      </p:sp>
      <p:sp>
        <p:nvSpPr>
          <p:cNvPr id="8" name="Text 6"/>
          <p:cNvSpPr/>
          <p:nvPr/>
        </p:nvSpPr>
        <p:spPr>
          <a:xfrm>
            <a:off x="914400" y="1459230"/>
            <a:ext cx="492125" cy="497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7C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82420" y="1444625"/>
            <a:ext cx="3515995" cy="283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82420" y="1707515"/>
            <a:ext cx="4570730" cy="3194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goal, motivation and target scenario on the tennis field.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582420" y="2133600"/>
            <a:ext cx="4570730" cy="5715"/>
          </a:xfrm>
          <a:prstGeom prst="rect">
            <a:avLst/>
          </a:prstGeom>
          <a:solidFill>
            <a:srgbClr val="D6DEE7"/>
          </a:solidFill>
        </p:spPr>
      </p:sp>
      <p:sp>
        <p:nvSpPr>
          <p:cNvPr id="12" name="Shape 10"/>
          <p:cNvSpPr/>
          <p:nvPr/>
        </p:nvSpPr>
        <p:spPr>
          <a:xfrm>
            <a:off x="914400" y="2204720"/>
            <a:ext cx="492125" cy="497205"/>
          </a:xfrm>
          <a:prstGeom prst="ellipse">
            <a:avLst/>
          </a:prstGeom>
          <a:solidFill>
            <a:srgbClr val="0E2A4A"/>
          </a:solidFill>
        </p:spPr>
      </p:sp>
      <p:sp>
        <p:nvSpPr>
          <p:cNvPr id="13" name="Text 11"/>
          <p:cNvSpPr/>
          <p:nvPr/>
        </p:nvSpPr>
        <p:spPr>
          <a:xfrm>
            <a:off x="914400" y="2204720"/>
            <a:ext cx="492125" cy="497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7C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82420" y="2190750"/>
            <a:ext cx="3515995" cy="283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Software &amp; Hardware Stack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82420" y="2453640"/>
            <a:ext cx="4570730" cy="3194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system: vision, navigation, voice and embedded compute.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582420" y="2879725"/>
            <a:ext cx="4570730" cy="5715"/>
          </a:xfrm>
          <a:prstGeom prst="rect">
            <a:avLst/>
          </a:prstGeom>
          <a:solidFill>
            <a:srgbClr val="D6DEE7"/>
          </a:solidFill>
        </p:spPr>
      </p:sp>
      <p:sp>
        <p:nvSpPr>
          <p:cNvPr id="17" name="Shape 15"/>
          <p:cNvSpPr/>
          <p:nvPr/>
        </p:nvSpPr>
        <p:spPr>
          <a:xfrm>
            <a:off x="914400" y="2950845"/>
            <a:ext cx="492125" cy="497205"/>
          </a:xfrm>
          <a:prstGeom prst="ellipse">
            <a:avLst/>
          </a:prstGeom>
          <a:solidFill>
            <a:srgbClr val="0E2A4A"/>
          </a:solidFill>
        </p:spPr>
      </p:sp>
      <p:sp>
        <p:nvSpPr>
          <p:cNvPr id="18" name="Text 16"/>
          <p:cNvSpPr/>
          <p:nvPr/>
        </p:nvSpPr>
        <p:spPr>
          <a:xfrm>
            <a:off x="914400" y="2950845"/>
            <a:ext cx="492125" cy="497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7C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82420" y="2936240"/>
            <a:ext cx="3515995" cy="283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Code &amp; Algorithm Flow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82420" y="3199130"/>
            <a:ext cx="4570730" cy="3194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static SLAM map to the SEARCHING → HOMING state machine.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595360" y="1332865"/>
            <a:ext cx="3108960" cy="4845050"/>
          </a:xfrm>
          <a:prstGeom prst="rect">
            <a:avLst/>
          </a:prstGeom>
          <a:solidFill>
            <a:srgbClr val="0E2A4A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595360" y="1331595"/>
            <a:ext cx="73152" cy="484632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3" name="Text 31"/>
          <p:cNvSpPr/>
          <p:nvPr/>
        </p:nvSpPr>
        <p:spPr>
          <a:xfrm>
            <a:off x="8823960" y="16916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AT A GLANCE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823960" y="219456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8823960" y="27889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 machine stages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823960" y="320040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8823960" y="37947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Sensor modalities fused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823960" y="42062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100%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8823960" y="48006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Autonomous on-court ops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823960" y="521208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ROS 2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8823960" y="58064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Middleware foundation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r>
              <a:rPr lang="en-US" sz="1000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 21</a:t>
            </a:r>
            <a:endParaRPr lang="zh-CN" altLang="en-US" sz="1000" dirty="0">
              <a:solidFill>
                <a:srgbClr val="8497A8"/>
              </a:solidFill>
              <a:latin typeface="Consolas" panose="020B0609020204030204" pitchFamily="34" charset="0"/>
              <a:ea typeface="宋体" panose="02010600030101010101" pitchFamily="2" charset="-122"/>
              <a:cs typeface="Consolas" panose="020B0609020204030204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616952" y="64465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17 · TENNIS-BOT</a:t>
            </a:r>
            <a:endParaRPr lang="en-US" sz="800" dirty="0"/>
          </a:p>
        </p:txBody>
      </p:sp>
      <p:grpSp>
        <p:nvGrpSpPr>
          <p:cNvPr id="58" name="组合 57"/>
          <p:cNvGrpSpPr/>
          <p:nvPr/>
        </p:nvGrpSpPr>
        <p:grpSpPr>
          <a:xfrm>
            <a:off x="457200" y="3676015"/>
            <a:ext cx="7221220" cy="2404745"/>
            <a:chOff x="720" y="6884"/>
            <a:chExt cx="11372" cy="3787"/>
          </a:xfrm>
        </p:grpSpPr>
        <p:sp>
          <p:nvSpPr>
            <p:cNvPr id="42" name="Text 40"/>
            <p:cNvSpPr/>
            <p:nvPr/>
          </p:nvSpPr>
          <p:spPr>
            <a:xfrm>
              <a:off x="720" y="10239"/>
              <a:ext cx="8640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kern="0" spc="300" dirty="0">
                  <a:solidFill>
                    <a:srgbClr val="8497A8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AGENDA</a:t>
              </a:r>
              <a:endParaRPr lang="en-US" sz="900" dirty="0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277" y="8110"/>
              <a:ext cx="9599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0" indent="0">
                <a:buNone/>
              </a:pPr>
              <a:r>
                <a:rPr lang="en-US" b="1" dirty="0">
                  <a:solidFill>
                    <a:srgbClr val="0E2A4A"/>
                  </a:solidFill>
                  <a:latin typeface="Georgia" panose="02040502050405020303" pitchFamily="34" charset="0"/>
                  <a:ea typeface="Georgia" panose="02040502050405020303" pitchFamily="34" charset="-122"/>
                  <a:cs typeface="Georgia" panose="02040502050405020303" pitchFamily="34" charset="-120"/>
                  <a:sym typeface="+mn-ea"/>
                </a:rPr>
                <a:t>Project Highlights </a:t>
              </a:r>
              <a:endParaRPr lang="en-US" altLang="en-US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  <a:sym typeface="+mn-ea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2321" y="9216"/>
              <a:ext cx="9771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0" indent="0">
                <a:buNone/>
              </a:pPr>
              <a:r>
                <a:rPr lang="en-US" b="1" dirty="0">
                  <a:solidFill>
                    <a:srgbClr val="0E2A4A"/>
                  </a:solidFill>
                  <a:latin typeface="Georgia" panose="02040502050405020303" pitchFamily="34" charset="0"/>
                  <a:ea typeface="Georgia" panose="02040502050405020303" pitchFamily="34" charset="-122"/>
                  <a:cs typeface="Georgia" panose="02040502050405020303" pitchFamily="34" charset="-120"/>
                  <a:sym typeface="+mn-ea"/>
                </a:rPr>
                <a:t>Project </a:t>
              </a:r>
              <a:r>
                <a:rPr lang="en-US" b="1" dirty="0">
                  <a:solidFill>
                    <a:srgbClr val="0E2A4A"/>
                  </a:solidFill>
                  <a:latin typeface="Georgia" panose="02040502050405020303" pitchFamily="34" charset="0"/>
                  <a:ea typeface="Georgia" panose="02040502050405020303" pitchFamily="34" charset="-122"/>
                  <a:cs typeface="Georgia" panose="02040502050405020303" pitchFamily="34" charset="-120"/>
                  <a:sym typeface="+mn-ea"/>
                </a:rPr>
                <a:t>Team &amp; Responsibilities</a:t>
              </a:r>
              <a:endParaRPr lang="en-US" dirty="0"/>
            </a:p>
            <a:p>
              <a:pPr marL="0" indent="0">
                <a:buNone/>
              </a:pPr>
              <a:r>
                <a:rPr lang="en-US" b="1" dirty="0">
                  <a:solidFill>
                    <a:srgbClr val="0E2A4A"/>
                  </a:solidFill>
                  <a:latin typeface="Georgia" panose="02040502050405020303" pitchFamily="34" charset="0"/>
                  <a:ea typeface="Georgia" panose="02040502050405020303" pitchFamily="34" charset="-122"/>
                  <a:cs typeface="Georgia" panose="02040502050405020303" pitchFamily="34" charset="-120"/>
                  <a:sym typeface="+mn-ea"/>
                </a:rPr>
                <a:t> </a:t>
              </a:r>
              <a:endParaRPr lang="en-US" altLang="en-US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  <a:sym typeface="+mn-ea"/>
              </a:endParaRPr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1440" y="6884"/>
              <a:ext cx="8251" cy="3347"/>
              <a:chOff x="1440" y="6884"/>
              <a:chExt cx="8251" cy="3347"/>
            </a:xfrm>
          </p:grpSpPr>
          <p:sp>
            <p:nvSpPr>
              <p:cNvPr id="26" name="Shape 24"/>
              <p:cNvSpPr/>
              <p:nvPr/>
            </p:nvSpPr>
            <p:spPr>
              <a:xfrm>
                <a:off x="2492" y="6884"/>
                <a:ext cx="7198" cy="9"/>
              </a:xfrm>
              <a:prstGeom prst="rect">
                <a:avLst/>
              </a:prstGeom>
              <a:solidFill>
                <a:srgbClr val="D6DEE7"/>
              </a:solidFill>
            </p:spPr>
          </p:sp>
          <p:sp>
            <p:nvSpPr>
              <p:cNvPr id="27" name="Shape 25"/>
              <p:cNvSpPr/>
              <p:nvPr/>
            </p:nvSpPr>
            <p:spPr>
              <a:xfrm>
                <a:off x="1440" y="6996"/>
                <a:ext cx="775" cy="783"/>
              </a:xfrm>
              <a:prstGeom prst="ellipse">
                <a:avLst/>
              </a:prstGeom>
              <a:solidFill>
                <a:srgbClr val="0E2A4A"/>
              </a:solidFill>
            </p:spPr>
          </p:sp>
          <p:sp>
            <p:nvSpPr>
              <p:cNvPr id="28" name="Text 26"/>
              <p:cNvSpPr/>
              <p:nvPr/>
            </p:nvSpPr>
            <p:spPr>
              <a:xfrm>
                <a:off x="1440" y="6996"/>
                <a:ext cx="775" cy="78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00B7C7"/>
                    </a:solidFill>
                    <a:latin typeface="Georgia" panose="02040502050405020303" pitchFamily="34" charset="0"/>
                    <a:ea typeface="Georgia" panose="02040502050405020303" pitchFamily="34" charset="-122"/>
                    <a:cs typeface="Georgia" panose="02040502050405020303" pitchFamily="34" charset="-120"/>
                  </a:rPr>
                  <a:t>04</a:t>
                </a:r>
                <a:endParaRPr lang="en-US" sz="1600" dirty="0"/>
              </a:p>
            </p:txBody>
          </p:sp>
          <p:sp>
            <p:nvSpPr>
              <p:cNvPr id="29" name="Text 27"/>
              <p:cNvSpPr/>
              <p:nvPr/>
            </p:nvSpPr>
            <p:spPr>
              <a:xfrm>
                <a:off x="2492" y="6974"/>
                <a:ext cx="5537" cy="44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0E2A4A"/>
                    </a:solidFill>
                    <a:latin typeface="Georgia" panose="02040502050405020303" pitchFamily="34" charset="0"/>
                    <a:ea typeface="Georgia" panose="02040502050405020303" pitchFamily="34" charset="-122"/>
                    <a:cs typeface="Georgia" panose="02040502050405020303" pitchFamily="34" charset="-120"/>
                  </a:rPr>
                  <a:t>User Interface</a:t>
                </a:r>
                <a:endParaRPr lang="en-US" sz="1800" dirty="0"/>
              </a:p>
            </p:txBody>
          </p:sp>
          <p:sp>
            <p:nvSpPr>
              <p:cNvPr id="30" name="Text 28"/>
              <p:cNvSpPr/>
              <p:nvPr/>
            </p:nvSpPr>
            <p:spPr>
              <a:xfrm>
                <a:off x="2492" y="7388"/>
                <a:ext cx="7198" cy="5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dirty="0">
                    <a:solidFill>
                      <a:srgbClr val="32445C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Interaction design for operators and end users.</a:t>
                </a:r>
                <a:endParaRPr lang="en-US" sz="1150" dirty="0"/>
              </a:p>
            </p:txBody>
          </p:sp>
          <p:sp>
            <p:nvSpPr>
              <p:cNvPr id="47" name="Shape 25"/>
              <p:cNvSpPr/>
              <p:nvPr/>
            </p:nvSpPr>
            <p:spPr>
              <a:xfrm>
                <a:off x="1440" y="8110"/>
                <a:ext cx="779" cy="783"/>
              </a:xfrm>
              <a:prstGeom prst="ellipse">
                <a:avLst/>
              </a:prstGeom>
              <a:solidFill>
                <a:srgbClr val="0E2A4A"/>
              </a:solidFill>
            </p:spPr>
            <p:txBody>
              <a:bodyPr/>
              <a:p>
                <a:pPr marL="0" indent="0" algn="ctr">
                  <a:buNone/>
                </a:pPr>
                <a:endParaRPr lang="zh-CN" altLang="en-US"/>
              </a:p>
            </p:txBody>
          </p:sp>
          <p:sp>
            <p:nvSpPr>
              <p:cNvPr id="48" name="Shape 25"/>
              <p:cNvSpPr/>
              <p:nvPr/>
            </p:nvSpPr>
            <p:spPr>
              <a:xfrm>
                <a:off x="1440" y="9287"/>
                <a:ext cx="775" cy="783"/>
              </a:xfrm>
              <a:prstGeom prst="ellipse">
                <a:avLst/>
              </a:prstGeom>
              <a:solidFill>
                <a:srgbClr val="0E2A4A"/>
              </a:solidFill>
            </p:spPr>
          </p:sp>
          <p:sp>
            <p:nvSpPr>
              <p:cNvPr id="49" name="文本框 48"/>
              <p:cNvSpPr txBox="1"/>
              <p:nvPr/>
            </p:nvSpPr>
            <p:spPr>
              <a:xfrm>
                <a:off x="1440" y="8236"/>
                <a:ext cx="761" cy="53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sz="1600" b="1" dirty="0">
                    <a:solidFill>
                      <a:srgbClr val="00B7C7"/>
                    </a:solidFill>
                    <a:latin typeface="Georgia" panose="02040502050405020303" pitchFamily="34" charset="0"/>
                    <a:ea typeface="Georgia" panose="02040502050405020303" pitchFamily="34" charset="-122"/>
                    <a:cs typeface="Georgia" panose="02040502050405020303" pitchFamily="34" charset="-120"/>
                    <a:sym typeface="+mn-ea"/>
                  </a:rPr>
                  <a:t>05</a:t>
                </a:r>
                <a:endParaRPr lang="en-US" altLang="en-US" sz="1600" b="1" dirty="0">
                  <a:solidFill>
                    <a:srgbClr val="00B7C7"/>
                  </a:solidFill>
                  <a:latin typeface="Georgia" panose="02040502050405020303" pitchFamily="34" charset="0"/>
                  <a:ea typeface="Georgia" panose="02040502050405020303" pitchFamily="34" charset="-122"/>
                  <a:cs typeface="Georgia" panose="02040502050405020303" pitchFamily="34" charset="-120"/>
                  <a:sym typeface="+mn-ea"/>
                </a:endParaRP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1469" y="9405"/>
                <a:ext cx="757" cy="53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sz="1600" b="1" dirty="0">
                    <a:solidFill>
                      <a:srgbClr val="00B7C7"/>
                    </a:solidFill>
                    <a:latin typeface="Georgia" panose="02040502050405020303" pitchFamily="34" charset="0"/>
                    <a:ea typeface="Georgia" panose="02040502050405020303" pitchFamily="34" charset="-122"/>
                    <a:cs typeface="Georgia" panose="02040502050405020303" pitchFamily="34" charset="-120"/>
                    <a:sym typeface="+mn-ea"/>
                  </a:rPr>
                  <a:t>06</a:t>
                </a:r>
                <a:endParaRPr lang="en-US" altLang="en-US" sz="1600" b="1" dirty="0">
                  <a:solidFill>
                    <a:srgbClr val="00B7C7"/>
                  </a:solidFill>
                  <a:latin typeface="Georgia" panose="02040502050405020303" pitchFamily="34" charset="0"/>
                  <a:ea typeface="Georgia" panose="02040502050405020303" pitchFamily="34" charset="-122"/>
                  <a:cs typeface="Georgia" panose="02040502050405020303" pitchFamily="34" charset="-120"/>
                  <a:sym typeface="+mn-ea"/>
                </a:endParaRPr>
              </a:p>
            </p:txBody>
          </p:sp>
          <p:sp>
            <p:nvSpPr>
              <p:cNvPr id="55" name="Text 28"/>
              <p:cNvSpPr/>
              <p:nvPr/>
            </p:nvSpPr>
            <p:spPr>
              <a:xfrm>
                <a:off x="2493" y="8641"/>
                <a:ext cx="7198" cy="5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altLang="zh-CN" sz="1150" dirty="0"/>
                  <a:t>Highlighting the key innovative and distinctive features of our project design.</a:t>
                </a:r>
                <a:endParaRPr lang="en-US" altLang="zh-CN" sz="1150" dirty="0"/>
              </a:p>
            </p:txBody>
          </p:sp>
          <p:sp>
            <p:nvSpPr>
              <p:cNvPr id="56" name="Text 28"/>
              <p:cNvSpPr/>
              <p:nvPr/>
            </p:nvSpPr>
            <p:spPr>
              <a:xfrm>
                <a:off x="2492" y="9729"/>
                <a:ext cx="7198" cy="5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altLang="zh-CN" sz="1150" dirty="0"/>
                  <a:t>Clarifying the specific roles and contributions of each team member.</a:t>
                </a:r>
                <a:endParaRPr lang="en-US" altLang="zh-CN" sz="1150" dirty="0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图片 90" descr="ouc"/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-2512060" y="-1130935"/>
            <a:ext cx="12895580" cy="9120505"/>
          </a:xfrm>
          <a:prstGeom prst="rect">
            <a:avLst/>
          </a:prstGeom>
        </p:spPr>
      </p:pic>
      <p:pic>
        <p:nvPicPr>
          <p:cNvPr id="36" name="图片 35" descr="ChatGPT Image 2026年5月15日 14_37_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915" y="1386840"/>
            <a:ext cx="5004435" cy="307975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Project Overview &amp; Objective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228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7" name="Text 5"/>
          <p:cNvSpPr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BUILT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6220" y="1691640"/>
            <a:ext cx="64008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0B122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Tennis-Bot is an autonomous mobile manipulator that collects scattered tennis balls on a court and deposits them into a designated bin — without any human intervention.</a:t>
            </a:r>
            <a:endParaRPr lang="en-US" sz="1800" dirty="0"/>
          </a:p>
        </p:txBody>
      </p:sp>
      <p:sp>
        <p:nvSpPr>
          <p:cNvPr id="9" name="Shape 7"/>
          <p:cNvSpPr/>
          <p:nvPr>
            <p:custDataLst>
              <p:tags r:id="rId3"/>
            </p:custDataLst>
          </p:nvPr>
        </p:nvSpPr>
        <p:spPr>
          <a:xfrm>
            <a:off x="236220" y="3360420"/>
            <a:ext cx="2103120" cy="210312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10" name="Shape 8"/>
          <p:cNvSpPr/>
          <p:nvPr>
            <p:custDataLst>
              <p:tags r:id="rId4"/>
            </p:custDataLst>
          </p:nvPr>
        </p:nvSpPr>
        <p:spPr>
          <a:xfrm>
            <a:off x="236220" y="3360420"/>
            <a:ext cx="2103120" cy="73152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419100" y="35433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7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419100" y="395478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PERCEIVE</a:t>
            </a:r>
            <a:endParaRPr lang="en-US" sz="1700" dirty="0"/>
          </a:p>
        </p:txBody>
      </p:sp>
      <p:sp>
        <p:nvSpPr>
          <p:cNvPr id="13" name="Text 11"/>
          <p:cNvSpPr/>
          <p:nvPr>
            <p:custDataLst>
              <p:tags r:id="rId7"/>
            </p:custDataLst>
          </p:nvPr>
        </p:nvSpPr>
        <p:spPr>
          <a:xfrm>
            <a:off x="419100" y="445770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 tennis balls in real time using a YOLOv5 detector running on the Jetson Orin NX.</a:t>
            </a:r>
            <a:endParaRPr lang="en-US" sz="1050" dirty="0"/>
          </a:p>
        </p:txBody>
      </p:sp>
      <p:sp>
        <p:nvSpPr>
          <p:cNvPr id="14" name="Shape 12"/>
          <p:cNvSpPr/>
          <p:nvPr>
            <p:custDataLst>
              <p:tags r:id="rId8"/>
            </p:custDataLst>
          </p:nvPr>
        </p:nvSpPr>
        <p:spPr>
          <a:xfrm>
            <a:off x="2503932" y="3360420"/>
            <a:ext cx="2103120" cy="210312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15" name="Shape 13"/>
          <p:cNvSpPr/>
          <p:nvPr>
            <p:custDataLst>
              <p:tags r:id="rId9"/>
            </p:custDataLst>
          </p:nvPr>
        </p:nvSpPr>
        <p:spPr>
          <a:xfrm>
            <a:off x="2503932" y="3360420"/>
            <a:ext cx="2103120" cy="73152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16" name="Text 14"/>
          <p:cNvSpPr/>
          <p:nvPr>
            <p:custDataLst>
              <p:tags r:id="rId10"/>
            </p:custDataLst>
          </p:nvPr>
        </p:nvSpPr>
        <p:spPr>
          <a:xfrm>
            <a:off x="2686812" y="35433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7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>
            <p:custDataLst>
              <p:tags r:id="rId11"/>
            </p:custDataLst>
          </p:nvPr>
        </p:nvSpPr>
        <p:spPr>
          <a:xfrm>
            <a:off x="2686812" y="395478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NAVIGATE</a:t>
            </a:r>
            <a:endParaRPr lang="en-US" sz="1700" dirty="0"/>
          </a:p>
        </p:txBody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2686812" y="445770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SLAM-built map + Nav2 stack for autonomous obstacle avoidance and goal-directed motion.</a:t>
            </a:r>
            <a:endParaRPr lang="en-US" sz="1050" dirty="0"/>
          </a:p>
        </p:txBody>
      </p:sp>
      <p:sp>
        <p:nvSpPr>
          <p:cNvPr id="19" name="Shape 17"/>
          <p:cNvSpPr/>
          <p:nvPr>
            <p:custDataLst>
              <p:tags r:id="rId13"/>
            </p:custDataLst>
          </p:nvPr>
        </p:nvSpPr>
        <p:spPr>
          <a:xfrm>
            <a:off x="4771644" y="3360420"/>
            <a:ext cx="2103120" cy="210312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20" name="Shape 18"/>
          <p:cNvSpPr/>
          <p:nvPr>
            <p:custDataLst>
              <p:tags r:id="rId14"/>
            </p:custDataLst>
          </p:nvPr>
        </p:nvSpPr>
        <p:spPr>
          <a:xfrm>
            <a:off x="4771644" y="3360420"/>
            <a:ext cx="2103120" cy="73152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21" name="Text 19"/>
          <p:cNvSpPr/>
          <p:nvPr>
            <p:custDataLst>
              <p:tags r:id="rId15"/>
            </p:custDataLst>
          </p:nvPr>
        </p:nvSpPr>
        <p:spPr>
          <a:xfrm>
            <a:off x="4954524" y="35433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7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>
            <p:custDataLst>
              <p:tags r:id="rId16"/>
            </p:custDataLst>
          </p:nvPr>
        </p:nvSpPr>
        <p:spPr>
          <a:xfrm>
            <a:off x="4954524" y="395478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MANIPULATE</a:t>
            </a:r>
            <a:endParaRPr lang="en-US" sz="1700" dirty="0"/>
          </a:p>
        </p:txBody>
      </p:sp>
      <p:sp>
        <p:nvSpPr>
          <p:cNvPr id="23" name="Text 21"/>
          <p:cNvSpPr/>
          <p:nvPr>
            <p:custDataLst>
              <p:tags r:id="rId17"/>
            </p:custDataLst>
          </p:nvPr>
        </p:nvSpPr>
        <p:spPr>
          <a:xfrm>
            <a:off x="4954524" y="445770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Drive a vision-servo loop on the DJI EP arm to grasp the ball and release it at the bin.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361555" y="4609973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5DD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DJI RoboMaster EP + manipulator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433945" y="5055870"/>
            <a:ext cx="4297680" cy="64008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28" name="Text 25"/>
          <p:cNvSpPr/>
          <p:nvPr/>
        </p:nvSpPr>
        <p:spPr>
          <a:xfrm>
            <a:off x="7748270" y="5055870"/>
            <a:ext cx="365950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300" dirty="0">
                <a:solidFill>
                  <a:srgbClr val="0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  </a:t>
            </a:r>
            <a:r>
              <a:rPr lang="en-US" sz="1150" dirty="0">
                <a:solidFill>
                  <a:srgbClr val="0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Zero-touch ball collection on the court.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914400" y="6503035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r>
              <a:rPr lang="en-US" sz="1000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 21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616952" y="64465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17 · TENNIS-BOT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ouc"/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-2512060" y="-1130935"/>
            <a:ext cx="12895580" cy="912050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FIELD DEMONSTRATION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7425" y="658495"/>
            <a:ext cx="10698480" cy="4533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  <a:sym typeface="+mn-ea"/>
              </a:rPr>
              <a:t>Project Overview &amp; Objective - </a:t>
            </a:r>
            <a:r>
              <a:rPr lang="en-US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Autonomous Pick-and-Place Demonstration</a:t>
            </a:r>
            <a:endParaRPr lang="en-US" b="1" dirty="0">
              <a:solidFill>
                <a:srgbClr val="0E2A4A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228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7" name="Text 5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Putting it all together — the robot autonomously scans the field, localizes against the SLAM map, and runs the full state machine end to end.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5486400" cy="3657600"/>
          </a:xfrm>
          <a:prstGeom prst="rect">
            <a:avLst/>
          </a:prstGeom>
          <a:solidFill>
            <a:srgbClr val="000000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pic>
        <p:nvPicPr>
          <p:cNvPr id="9" name="Image 0" descr="/home/claude/assets/state_rviz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2920" y="2011680"/>
            <a:ext cx="5394960" cy="35661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56692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RViz2 — live AMCL particle cloud over the saved tennis_field map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62675" y="1965960"/>
            <a:ext cx="5541645" cy="3657600"/>
          </a:xfrm>
          <a:prstGeom prst="rect">
            <a:avLst/>
          </a:prstGeom>
          <a:solidFill>
            <a:srgbClr val="F3F6FA"/>
          </a:solidFill>
          <a:ln w="12700">
            <a:solidFill>
              <a:srgbClr val="D6DEE7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6217920" y="32918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0" y="384048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17920" y="56692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Run · Live Demo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6035040"/>
            <a:ext cx="2715768" cy="411480"/>
          </a:xfrm>
          <a:prstGeom prst="rect">
            <a:avLst/>
          </a:prstGeom>
          <a:solidFill>
            <a:srgbClr val="0E2A4A"/>
          </a:solidFill>
        </p:spPr>
      </p:sp>
      <p:sp>
        <p:nvSpPr>
          <p:cNvPr id="16" name="Text 13"/>
          <p:cNvSpPr/>
          <p:nvPr/>
        </p:nvSpPr>
        <p:spPr>
          <a:xfrm>
            <a:off x="594360" y="6035040"/>
            <a:ext cx="253288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court</a:t>
            </a:r>
            <a:r>
              <a:rPr lang="en-US" sz="950" dirty="0">
                <a:solidFill>
                  <a:srgbClr val="C8D6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Coverage area mapped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310128" y="6035040"/>
            <a:ext cx="2715768" cy="411480"/>
          </a:xfrm>
          <a:prstGeom prst="rect">
            <a:avLst/>
          </a:prstGeom>
          <a:solidFill>
            <a:srgbClr val="0E2A4A"/>
          </a:solidFill>
        </p:spPr>
      </p:sp>
      <p:sp>
        <p:nvSpPr>
          <p:cNvPr id="18" name="Text 15"/>
          <p:cNvSpPr/>
          <p:nvPr/>
        </p:nvSpPr>
        <p:spPr>
          <a:xfrm>
            <a:off x="3447288" y="6035040"/>
            <a:ext cx="253288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</a:t>
            </a:r>
            <a:r>
              <a:rPr lang="en-US" sz="950" dirty="0">
                <a:solidFill>
                  <a:srgbClr val="C8D6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Obstacle avoidance via Nav2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63056" y="6035040"/>
            <a:ext cx="2715768" cy="411480"/>
          </a:xfrm>
          <a:prstGeom prst="rect">
            <a:avLst/>
          </a:prstGeom>
          <a:solidFill>
            <a:srgbClr val="0E2A4A"/>
          </a:solidFill>
        </p:spPr>
      </p:sp>
      <p:sp>
        <p:nvSpPr>
          <p:cNvPr id="20" name="Text 17"/>
          <p:cNvSpPr/>
          <p:nvPr/>
        </p:nvSpPr>
        <p:spPr>
          <a:xfrm>
            <a:off x="6300216" y="6035040"/>
            <a:ext cx="253288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Vision-servo</a:t>
            </a:r>
            <a:r>
              <a:rPr lang="en-US" sz="950" dirty="0">
                <a:solidFill>
                  <a:srgbClr val="C8D6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Grasp accuracy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015984" y="6035040"/>
            <a:ext cx="2715768" cy="411480"/>
          </a:xfrm>
          <a:prstGeom prst="rect">
            <a:avLst/>
          </a:prstGeom>
          <a:solidFill>
            <a:srgbClr val="0E2A4A"/>
          </a:solidFill>
        </p:spPr>
      </p:sp>
      <p:sp>
        <p:nvSpPr>
          <p:cNvPr id="22" name="Text 19"/>
          <p:cNvSpPr/>
          <p:nvPr/>
        </p:nvSpPr>
        <p:spPr>
          <a:xfrm>
            <a:off x="9153144" y="6035040"/>
            <a:ext cx="253288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</a:t>
            </a:r>
            <a:r>
              <a:rPr lang="en-US" sz="950" dirty="0">
                <a:solidFill>
                  <a:srgbClr val="C8D6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Repeats until court is empty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FIELD DEMO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r>
              <a:rPr lang="en-US" sz="1000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 21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616952" y="64465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17 · TENNIS-BOT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图片 90" descr="ouc"/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-2512060" y="-1130935"/>
            <a:ext cx="12895580" cy="912050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 &amp; HARDWARE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228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7" name="Shape 5"/>
          <p:cNvSpPr/>
          <p:nvPr/>
        </p:nvSpPr>
        <p:spPr>
          <a:xfrm>
            <a:off x="457200" y="1417320"/>
            <a:ext cx="11274552" cy="320040"/>
          </a:xfrm>
          <a:prstGeom prst="rect">
            <a:avLst/>
          </a:prstGeom>
          <a:solidFill>
            <a:srgbClr val="0E2A4A"/>
          </a:solidFill>
        </p:spPr>
      </p:sp>
      <p:sp>
        <p:nvSpPr>
          <p:cNvPr id="8" name="Text 6"/>
          <p:cNvSpPr/>
          <p:nvPr/>
        </p:nvSpPr>
        <p:spPr>
          <a:xfrm>
            <a:off x="640080" y="14173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PERCEPTION LAYER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2612898" cy="868680"/>
          </a:xfrm>
          <a:prstGeom prst="rect">
            <a:avLst/>
          </a:prstGeom>
          <a:solidFill>
            <a:srgbClr val="F3F6FA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920240"/>
            <a:ext cx="502920" cy="3657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11" name="Text 9"/>
          <p:cNvSpPr/>
          <p:nvPr/>
        </p:nvSpPr>
        <p:spPr>
          <a:xfrm>
            <a:off x="548640" y="192024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5568" y="1856232"/>
            <a:ext cx="18813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USB Camera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15568" y="2167128"/>
            <a:ext cx="188137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RGB · 640×360 @ 30 fps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44418" y="1801368"/>
            <a:ext cx="2612898" cy="868680"/>
          </a:xfrm>
          <a:prstGeom prst="rect">
            <a:avLst/>
          </a:prstGeom>
          <a:solidFill>
            <a:srgbClr val="F3F6FA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35858" y="1920240"/>
            <a:ext cx="502920" cy="3657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16" name="Text 14"/>
          <p:cNvSpPr/>
          <p:nvPr/>
        </p:nvSpPr>
        <p:spPr>
          <a:xfrm>
            <a:off x="3435858" y="192024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LDR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02786" y="1856232"/>
            <a:ext cx="18813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YDLidar X3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002786" y="2167128"/>
            <a:ext cx="188137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2D Lidar · 360° SLAM scan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31636" y="1801368"/>
            <a:ext cx="2612898" cy="868680"/>
          </a:xfrm>
          <a:prstGeom prst="rect">
            <a:avLst/>
          </a:prstGeom>
          <a:solidFill>
            <a:srgbClr val="F3F6FA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3076" y="1920240"/>
            <a:ext cx="502920" cy="3657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21" name="Text 19"/>
          <p:cNvSpPr/>
          <p:nvPr/>
        </p:nvSpPr>
        <p:spPr>
          <a:xfrm>
            <a:off x="6323076" y="192024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90004" y="1856232"/>
            <a:ext cx="18813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ToF Sensor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90004" y="2167128"/>
            <a:ext cx="188137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IR distance · grab trigger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18854" y="1801368"/>
            <a:ext cx="2612898" cy="868680"/>
          </a:xfrm>
          <a:prstGeom prst="rect">
            <a:avLst/>
          </a:prstGeom>
          <a:solidFill>
            <a:srgbClr val="F3F6FA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10294" y="1920240"/>
            <a:ext cx="502920" cy="3657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26" name="Text 24"/>
          <p:cNvSpPr/>
          <p:nvPr/>
        </p:nvSpPr>
        <p:spPr>
          <a:xfrm>
            <a:off x="9210294" y="192024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MIC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77222" y="1856232"/>
            <a:ext cx="18813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ReSpeaker 4-Mic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777222" y="2167128"/>
            <a:ext cx="188137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UAC1.0 · voice command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2880360"/>
            <a:ext cx="11274552" cy="32004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0" name="Text 28"/>
          <p:cNvSpPr/>
          <p:nvPr/>
        </p:nvSpPr>
        <p:spPr>
          <a:xfrm>
            <a:off x="640080" y="288036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 &amp; SOFTWARE LAYER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264408"/>
            <a:ext cx="2612898" cy="868680"/>
          </a:xfrm>
          <a:prstGeom prst="rect">
            <a:avLst/>
          </a:prstGeom>
          <a:solidFill>
            <a:srgbClr val="F3F6FA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383280"/>
            <a:ext cx="502920" cy="3657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3" name="Text 31"/>
          <p:cNvSpPr/>
          <p:nvPr/>
        </p:nvSpPr>
        <p:spPr>
          <a:xfrm>
            <a:off x="548640" y="338328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GPU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15568" y="3319272"/>
            <a:ext cx="18813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Jetson Orin NX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15568" y="3630168"/>
            <a:ext cx="188137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ARM64 · CUDA acceleration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44418" y="3264408"/>
            <a:ext cx="2612898" cy="868680"/>
          </a:xfrm>
          <a:prstGeom prst="rect">
            <a:avLst/>
          </a:prstGeom>
          <a:solidFill>
            <a:srgbClr val="F3F6FA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35858" y="3383280"/>
            <a:ext cx="502920" cy="3657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8" name="Text 36"/>
          <p:cNvSpPr/>
          <p:nvPr/>
        </p:nvSpPr>
        <p:spPr>
          <a:xfrm>
            <a:off x="3435858" y="338328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002786" y="3319272"/>
            <a:ext cx="18813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ROS 2 Humble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002786" y="3630168"/>
            <a:ext cx="188137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DDS · MultiThreadedExecutor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31636" y="3264408"/>
            <a:ext cx="2612898" cy="868680"/>
          </a:xfrm>
          <a:prstGeom prst="rect">
            <a:avLst/>
          </a:prstGeom>
          <a:solidFill>
            <a:srgbClr val="F3F6FA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23076" y="3383280"/>
            <a:ext cx="502920" cy="3657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43" name="Text 41"/>
          <p:cNvSpPr/>
          <p:nvPr/>
        </p:nvSpPr>
        <p:spPr>
          <a:xfrm>
            <a:off x="6323076" y="338328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90004" y="3319272"/>
            <a:ext cx="18813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YOLOv5 + Vosk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890004" y="3630168"/>
            <a:ext cx="188137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Detector · Chinese ASR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118854" y="3264408"/>
            <a:ext cx="2612898" cy="868680"/>
          </a:xfrm>
          <a:prstGeom prst="rect">
            <a:avLst/>
          </a:prstGeom>
          <a:solidFill>
            <a:srgbClr val="F3F6FA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10294" y="3383280"/>
            <a:ext cx="502920" cy="3657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48" name="Text 46"/>
          <p:cNvSpPr/>
          <p:nvPr/>
        </p:nvSpPr>
        <p:spPr>
          <a:xfrm>
            <a:off x="9210294" y="338328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NAV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777222" y="3319272"/>
            <a:ext cx="18813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Nav2 + SLAM Toolbox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9777222" y="3630168"/>
            <a:ext cx="188137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Planning · costmap · AMCL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" y="4343400"/>
            <a:ext cx="11274552" cy="320040"/>
          </a:xfrm>
          <a:prstGeom prst="rect">
            <a:avLst/>
          </a:prstGeom>
          <a:solidFill>
            <a:srgbClr val="0E2A4A"/>
          </a:solidFill>
        </p:spPr>
      </p:sp>
      <p:sp>
        <p:nvSpPr>
          <p:cNvPr id="52" name="Text 50"/>
          <p:cNvSpPr/>
          <p:nvPr/>
        </p:nvSpPr>
        <p:spPr>
          <a:xfrm>
            <a:off x="640080" y="434340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ACTUATION LAYER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4727448"/>
            <a:ext cx="2612898" cy="868680"/>
          </a:xfrm>
          <a:prstGeom prst="rect">
            <a:avLst/>
          </a:prstGeom>
          <a:solidFill>
            <a:srgbClr val="F3F6FA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4846320"/>
            <a:ext cx="502920" cy="3657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55" name="Text 53"/>
          <p:cNvSpPr/>
          <p:nvPr/>
        </p:nvSpPr>
        <p:spPr>
          <a:xfrm>
            <a:off x="548640" y="484632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DRV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115568" y="4782312"/>
            <a:ext cx="18813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Mecanum Chassis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1115568" y="5093208"/>
            <a:ext cx="188137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/cmd_vel · holonomic drive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344418" y="4727448"/>
            <a:ext cx="2612898" cy="868680"/>
          </a:xfrm>
          <a:prstGeom prst="rect">
            <a:avLst/>
          </a:prstGeom>
          <a:solidFill>
            <a:srgbClr val="F3F6FA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435858" y="4846320"/>
            <a:ext cx="502920" cy="3657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60" name="Text 58"/>
          <p:cNvSpPr/>
          <p:nvPr/>
        </p:nvSpPr>
        <p:spPr>
          <a:xfrm>
            <a:off x="3435858" y="484632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ARM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002786" y="4782312"/>
            <a:ext cx="18813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Robotic Arm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4002786" y="5093208"/>
            <a:ext cx="188137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MoveArm action · 2-DOF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231636" y="4727448"/>
            <a:ext cx="2612898" cy="868680"/>
          </a:xfrm>
          <a:prstGeom prst="rect">
            <a:avLst/>
          </a:prstGeom>
          <a:solidFill>
            <a:srgbClr val="F3F6FA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23076" y="4846320"/>
            <a:ext cx="502920" cy="3657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65" name="Text 63"/>
          <p:cNvSpPr/>
          <p:nvPr/>
        </p:nvSpPr>
        <p:spPr>
          <a:xfrm>
            <a:off x="6323076" y="484632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GRP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890004" y="4782312"/>
            <a:ext cx="18813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Gripper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6890004" y="5093208"/>
            <a:ext cx="188137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GripperControl action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18854" y="4727448"/>
            <a:ext cx="2612898" cy="868680"/>
          </a:xfrm>
          <a:prstGeom prst="rect">
            <a:avLst/>
          </a:prstGeom>
          <a:solidFill>
            <a:srgbClr val="F3F6FA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210294" y="4846320"/>
            <a:ext cx="502920" cy="3657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70" name="Text 68"/>
          <p:cNvSpPr/>
          <p:nvPr/>
        </p:nvSpPr>
        <p:spPr>
          <a:xfrm>
            <a:off x="9210294" y="484632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UI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9777222" y="4782312"/>
            <a:ext cx="18813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Status Overlay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9777222" y="5093208"/>
            <a:ext cx="188137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OpenCV HUD on camera feed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763649" y="2743200"/>
            <a:ext cx="0" cy="128016"/>
          </a:xfrm>
          <a:prstGeom prst="line">
            <a:avLst/>
          </a:prstGeom>
          <a:noFill/>
          <a:ln w="19050">
            <a:solidFill>
              <a:srgbClr val="00B7C7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4650867" y="2743200"/>
            <a:ext cx="0" cy="128016"/>
          </a:xfrm>
          <a:prstGeom prst="line">
            <a:avLst/>
          </a:prstGeom>
          <a:noFill/>
          <a:ln w="19050">
            <a:solidFill>
              <a:srgbClr val="00B7C7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7538085" y="2743200"/>
            <a:ext cx="0" cy="128016"/>
          </a:xfrm>
          <a:prstGeom prst="line">
            <a:avLst/>
          </a:prstGeom>
          <a:noFill/>
          <a:ln w="19050">
            <a:solidFill>
              <a:srgbClr val="00B7C7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10425303" y="2743200"/>
            <a:ext cx="0" cy="128016"/>
          </a:xfrm>
          <a:prstGeom prst="line">
            <a:avLst/>
          </a:prstGeom>
          <a:noFill/>
          <a:ln w="19050">
            <a:solidFill>
              <a:srgbClr val="00B7C7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1763649" y="4206240"/>
            <a:ext cx="0" cy="128016"/>
          </a:xfrm>
          <a:prstGeom prst="line">
            <a:avLst/>
          </a:prstGeom>
          <a:noFill/>
          <a:ln w="19050">
            <a:solidFill>
              <a:srgbClr val="00B7C7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4650867" y="4206240"/>
            <a:ext cx="0" cy="128016"/>
          </a:xfrm>
          <a:prstGeom prst="line">
            <a:avLst/>
          </a:prstGeom>
          <a:noFill/>
          <a:ln w="19050">
            <a:solidFill>
              <a:srgbClr val="00B7C7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7538085" y="4206240"/>
            <a:ext cx="0" cy="128016"/>
          </a:xfrm>
          <a:prstGeom prst="line">
            <a:avLst/>
          </a:prstGeom>
          <a:noFill/>
          <a:ln w="19050">
            <a:solidFill>
              <a:srgbClr val="00B7C7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10425303" y="4206240"/>
            <a:ext cx="0" cy="128016"/>
          </a:xfrm>
          <a:prstGeom prst="line">
            <a:avLst/>
          </a:prstGeom>
          <a:noFill/>
          <a:ln w="19050">
            <a:solidFill>
              <a:srgbClr val="00B7C7"/>
            </a:solidFill>
            <a:prstDash val="solid"/>
            <a:tailEnd type="triangle"/>
          </a:ln>
        </p:spPr>
      </p:sp>
      <p:sp>
        <p:nvSpPr>
          <p:cNvPr id="81" name="Text 79"/>
          <p:cNvSpPr/>
          <p:nvPr/>
        </p:nvSpPr>
        <p:spPr>
          <a:xfrm>
            <a:off x="457200" y="58064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FLOW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1737360" y="5815584"/>
            <a:ext cx="164592" cy="164592"/>
          </a:xfrm>
          <a:prstGeom prst="ellipse">
            <a:avLst/>
          </a:prstGeom>
          <a:solidFill>
            <a:srgbClr val="0E2A4A"/>
          </a:solidFill>
        </p:spPr>
      </p:sp>
      <p:sp>
        <p:nvSpPr>
          <p:cNvPr id="83" name="Text 81"/>
          <p:cNvSpPr/>
          <p:nvPr/>
        </p:nvSpPr>
        <p:spPr>
          <a:xfrm>
            <a:off x="1965960" y="57790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Sensor input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4023360" y="5815584"/>
            <a:ext cx="164592" cy="164592"/>
          </a:xfrm>
          <a:prstGeom prst="ellipse">
            <a:avLst/>
          </a:prstGeom>
          <a:solidFill>
            <a:srgbClr val="00B7C7"/>
          </a:solidFill>
        </p:spPr>
      </p:sp>
      <p:sp>
        <p:nvSpPr>
          <p:cNvPr id="85" name="Text 83"/>
          <p:cNvSpPr/>
          <p:nvPr/>
        </p:nvSpPr>
        <p:spPr>
          <a:xfrm>
            <a:off x="4251960" y="57790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Perception &amp; decision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309360" y="5815584"/>
            <a:ext cx="164592" cy="164592"/>
          </a:xfrm>
          <a:prstGeom prst="ellipse">
            <a:avLst/>
          </a:prstGeom>
          <a:solidFill>
            <a:srgbClr val="1F4877"/>
          </a:solidFill>
        </p:spPr>
      </p:sp>
      <p:sp>
        <p:nvSpPr>
          <p:cNvPr id="87" name="Text 85"/>
          <p:cNvSpPr/>
          <p:nvPr/>
        </p:nvSpPr>
        <p:spPr>
          <a:xfrm>
            <a:off x="6537960" y="57790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Actuator commands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</a:t>
            </a:r>
            <a:r>
              <a:rPr lang="en-US" sz="1000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 21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616952" y="64465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17 · TENNIS-BOT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 descr="ouc"/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-2512060" y="-1130935"/>
            <a:ext cx="12895580" cy="912050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 &amp; HARDWARE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Hardware Bill of Materials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228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7" name="Text 5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Compact, ROS 2-native hardware stack — every component contributes a distinct sensing or actuation modality.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3703320" cy="150876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9" name="Shape 7"/>
          <p:cNvSpPr/>
          <p:nvPr/>
        </p:nvSpPr>
        <p:spPr>
          <a:xfrm>
            <a:off x="457200" y="1965960"/>
            <a:ext cx="73152" cy="15087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10" name="Text 8"/>
          <p:cNvSpPr/>
          <p:nvPr/>
        </p:nvSpPr>
        <p:spPr>
          <a:xfrm>
            <a:off x="685800" y="2075688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EDGE COMPUTE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2276856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Jetson Orin NX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660904"/>
            <a:ext cx="3337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ARM64 SoC with CUDA — runs YOLOv5, ROS 2 nodes, Nav2 and Vosk locally.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3127248"/>
            <a:ext cx="1691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27248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100 TOPS class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25112" y="1965960"/>
            <a:ext cx="3703320" cy="150876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16" name="Shape 14"/>
          <p:cNvSpPr/>
          <p:nvPr/>
        </p:nvSpPr>
        <p:spPr>
          <a:xfrm>
            <a:off x="4325112" y="1965960"/>
            <a:ext cx="73152" cy="15087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17" name="Text 15"/>
          <p:cNvSpPr/>
          <p:nvPr/>
        </p:nvSpPr>
        <p:spPr>
          <a:xfrm>
            <a:off x="4553712" y="2075688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PLATFORM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53712" y="2276856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DJI RoboMaster EP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53712" y="2660904"/>
            <a:ext cx="3337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Mecanum-wheel chassis with built-in arm &amp; gripper, accessed via robomaster_ros.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53712" y="3127248"/>
            <a:ext cx="1691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3712" y="3127248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Holonomic drive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193024" y="1965960"/>
            <a:ext cx="3703320" cy="150876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23" name="Shape 21"/>
          <p:cNvSpPr/>
          <p:nvPr/>
        </p:nvSpPr>
        <p:spPr>
          <a:xfrm>
            <a:off x="8193024" y="1965960"/>
            <a:ext cx="73152" cy="15087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24" name="Text 22"/>
          <p:cNvSpPr/>
          <p:nvPr/>
        </p:nvSpPr>
        <p:spPr>
          <a:xfrm>
            <a:off x="8421624" y="2075688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2D LIDAR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421624" y="2276856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YDLidar X3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21624" y="2660904"/>
            <a:ext cx="3337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360° single-line scanner used by slam_toolbox for mapping and AMCL localization.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421624" y="3127248"/>
            <a:ext cx="1691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21624" y="3127248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 m range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639312"/>
            <a:ext cx="3703320" cy="150876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30" name="Shape 28"/>
          <p:cNvSpPr/>
          <p:nvPr/>
        </p:nvSpPr>
        <p:spPr>
          <a:xfrm>
            <a:off x="457200" y="3639312"/>
            <a:ext cx="73152" cy="15087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1" name="Text 29"/>
          <p:cNvSpPr/>
          <p:nvPr/>
        </p:nvSpPr>
        <p:spPr>
          <a:xfrm>
            <a:off x="685800" y="3749040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VISION SENSOR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85800" y="3950208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USB RGB Camera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800" y="4334256"/>
            <a:ext cx="3337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Streams 640×360 frames via ROS 2 Image topic into YOLOv5 inference.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" y="4800600"/>
            <a:ext cx="1691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800600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30 fps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25112" y="3639312"/>
            <a:ext cx="3703320" cy="150876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37" name="Shape 35"/>
          <p:cNvSpPr/>
          <p:nvPr/>
        </p:nvSpPr>
        <p:spPr>
          <a:xfrm>
            <a:off x="4325112" y="3639312"/>
            <a:ext cx="73152" cy="15087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8" name="Text 36"/>
          <p:cNvSpPr/>
          <p:nvPr/>
        </p:nvSpPr>
        <p:spPr>
          <a:xfrm>
            <a:off x="4553712" y="3749040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PROXIMITY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53712" y="3950208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ToF IR Sensor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53712" y="4334256"/>
            <a:ext cx="3337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Triggers the GRABBING transition once a ball is within ~13 cm of the gripper.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53712" y="4800600"/>
            <a:ext cx="1691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53712" y="4800600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TRIGGER 0.13 m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193024" y="3639312"/>
            <a:ext cx="3703320" cy="150876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44" name="Shape 42"/>
          <p:cNvSpPr/>
          <p:nvPr/>
        </p:nvSpPr>
        <p:spPr>
          <a:xfrm>
            <a:off x="8193024" y="3639312"/>
            <a:ext cx="73152" cy="15087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45" name="Text 43"/>
          <p:cNvSpPr/>
          <p:nvPr/>
        </p:nvSpPr>
        <p:spPr>
          <a:xfrm>
            <a:off x="8421624" y="3749040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 INPUT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421624" y="3950208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ReSpeaker 4-Mic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421624" y="4334256"/>
            <a:ext cx="3337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USB Audio Class 1.0 microphone array feeding Vosk Chinese ASR.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421624" y="4800600"/>
            <a:ext cx="1691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21624" y="4800600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16 kHz mono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</a:t>
            </a:r>
            <a:r>
              <a:rPr lang="en-US" sz="1000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 21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616952" y="64465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17 · TENNIS-BOT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00584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Software Stack</a:t>
            </a:r>
            <a:endParaRPr lang="en-US" sz="2600" dirty="0"/>
          </a:p>
        </p:txBody>
      </p:sp>
      <p:pic>
        <p:nvPicPr>
          <p:cNvPr id="50" name="图片 49" descr="ouc"/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-2512060" y="-1130935"/>
            <a:ext cx="12895580" cy="912050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 &amp; HARDWARE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228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7" name="Text 5"/>
          <p:cNvSpPr/>
          <p:nvPr/>
        </p:nvSpPr>
        <p:spPr>
          <a:xfrm>
            <a:off x="457200" y="14173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11680" y="14173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0" y="14173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 IN THE SYSTEM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7223760" cy="45720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11" name="Text 9"/>
          <p:cNvSpPr/>
          <p:nvPr/>
        </p:nvSpPr>
        <p:spPr>
          <a:xfrm>
            <a:off x="457200" y="1737360"/>
            <a:ext cx="14630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Perception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1737360"/>
            <a:ext cx="2286000" cy="457200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7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YOLOv5 (PyTorch)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0" y="1737360"/>
            <a:ext cx="3200400" cy="457200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tennis ball detection on Jetson GPU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194560"/>
            <a:ext cx="14630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Vision Bridge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2194560"/>
            <a:ext cx="2286000" cy="457200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7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OpenCV + cv_bridge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0" y="2194560"/>
            <a:ext cx="3200400" cy="457200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 I/O, HUD overlay, debug visualization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7223760" cy="45720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18" name="Text 16"/>
          <p:cNvSpPr/>
          <p:nvPr/>
        </p:nvSpPr>
        <p:spPr>
          <a:xfrm>
            <a:off x="457200" y="2651760"/>
            <a:ext cx="14630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Localization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2651760"/>
            <a:ext cx="2286000" cy="457200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7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SLAM Toolbox + AMCL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0" y="2651760"/>
            <a:ext cx="3200400" cy="457200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and localize against tennis_field.pgm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108960"/>
            <a:ext cx="14630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3108960"/>
            <a:ext cx="2286000" cy="457200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7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Nav2 NavigateToPose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108960"/>
            <a:ext cx="3200400" cy="457200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A* global planner + DWB local controller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7223760" cy="45720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25" name="Text 23"/>
          <p:cNvSpPr/>
          <p:nvPr/>
        </p:nvSpPr>
        <p:spPr>
          <a:xfrm>
            <a:off x="457200" y="3566160"/>
            <a:ext cx="14630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Sensor Fusion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3566160"/>
            <a:ext cx="2286000" cy="457200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7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robot_localization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3566160"/>
            <a:ext cx="3200400" cy="457200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EKF fuses wheel odometry + IMU → /odom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023360"/>
            <a:ext cx="14630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Voice I/O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11680" y="4023360"/>
            <a:ext cx="2286000" cy="457200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7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Vosk (small-cn-0.22)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89120" y="4023360"/>
            <a:ext cx="3200400" cy="457200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Chinese keyword ASR — pause / resume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480560"/>
            <a:ext cx="7223760" cy="45720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32" name="Text 30"/>
          <p:cNvSpPr/>
          <p:nvPr/>
        </p:nvSpPr>
        <p:spPr>
          <a:xfrm>
            <a:off x="457200" y="4480560"/>
            <a:ext cx="14630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TF Tree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011680" y="4480560"/>
            <a:ext cx="2286000" cy="457200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7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tf2_ros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89120" y="4480560"/>
            <a:ext cx="3200400" cy="457200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 base_link → laser_frame transform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937760"/>
            <a:ext cx="14630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Robot Driver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011680" y="4937760"/>
            <a:ext cx="2286000" cy="457200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7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robomaster_ros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389120" y="4937760"/>
            <a:ext cx="3200400" cy="457200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Chassis · arm · gripper · ToF action APIs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955280" y="1417320"/>
            <a:ext cx="3749040" cy="4663440"/>
          </a:xfrm>
          <a:prstGeom prst="rect">
            <a:avLst/>
          </a:prstGeom>
          <a:solidFill>
            <a:srgbClr val="0F1B2D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092440" y="1554480"/>
            <a:ext cx="128016" cy="128016"/>
          </a:xfrm>
          <a:prstGeom prst="ellipse">
            <a:avLst/>
          </a:prstGeom>
          <a:solidFill>
            <a:srgbClr val="E15D5C"/>
          </a:solidFill>
        </p:spPr>
      </p:sp>
      <p:sp>
        <p:nvSpPr>
          <p:cNvPr id="40" name="Shape 38"/>
          <p:cNvSpPr/>
          <p:nvPr/>
        </p:nvSpPr>
        <p:spPr>
          <a:xfrm>
            <a:off x="8293608" y="1554480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41" name="Shape 39"/>
          <p:cNvSpPr/>
          <p:nvPr/>
        </p:nvSpPr>
        <p:spPr>
          <a:xfrm>
            <a:off x="8494776" y="1554480"/>
            <a:ext cx="128016" cy="128016"/>
          </a:xfrm>
          <a:prstGeom prst="ellipse">
            <a:avLst/>
          </a:prstGeom>
          <a:solidFill>
            <a:srgbClr val="3BB273"/>
          </a:solidFill>
        </p:spPr>
      </p:sp>
      <p:sp>
        <p:nvSpPr>
          <p:cNvPr id="42" name="Text 40"/>
          <p:cNvSpPr/>
          <p:nvPr/>
        </p:nvSpPr>
        <p:spPr>
          <a:xfrm>
            <a:off x="8778240" y="1508760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tennis_pick_nav2.py — imports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138160" y="1874520"/>
            <a:ext cx="3474720" cy="406908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DD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ROS 2 core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rclpy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rclpy.node import Node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rclpy.action import ActionClient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DD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Vision and sensor msgs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cv2, torch, numpy as np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sensor_msgs.msg import Image, Range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cv_bridge import CvBridge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DD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Nav2 and RoboMaster actions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nav2_msgs.action import NavigateToPose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robomaster_msgs.action import \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MoveArm, GripperControl, Move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DD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Detector and voice (subprocess)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models.common import DetectMultiBackend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multiprocessing as mp  # Vosk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 STACK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</a:t>
            </a:r>
            <a:r>
              <a:rPr lang="en-US" sz="1000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 21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616952" y="64465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17 · TENNIS-BOT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800" dirty="0"/>
          </a:p>
        </p:txBody>
      </p:sp>
      <p:pic>
        <p:nvPicPr>
          <p:cNvPr id="50" name="图片 49" descr="ouc"/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-2983865" y="-1414780"/>
            <a:ext cx="12895580" cy="9120505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005840" y="38404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&amp; State FLOW</a:t>
            </a:r>
            <a:endParaRPr lang="en-US" sz="1200" b="1" kern="0" spc="500" dirty="0">
              <a:solidFill>
                <a:srgbClr val="00B7C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 OVERVIEW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08</a:t>
            </a:r>
            <a:r>
              <a:rPr lang="en-US" sz="1000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 21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616952" y="64465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17 · TENNIS-BOT</a:t>
            </a:r>
            <a:endParaRPr lang="en-US" sz="800" dirty="0"/>
          </a:p>
        </p:txBody>
      </p:sp>
      <p:pic>
        <p:nvPicPr>
          <p:cNvPr id="66" name="图片 65" descr="fl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110" y="782320"/>
            <a:ext cx="10133965" cy="56565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FLOW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228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7" name="Text 5"/>
          <p:cNvSpPr/>
          <p:nvPr/>
        </p:nvSpPr>
        <p:spPr>
          <a:xfrm>
            <a:off x="457200" y="14173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</a:t>
            </a:r>
            <a:endParaRPr lang="en-US" sz="900" dirty="0"/>
          </a:p>
        </p:txBody>
      </p:sp>
      <p:grpSp>
        <p:nvGrpSpPr>
          <p:cNvPr id="66" name="组合 65"/>
          <p:cNvGrpSpPr/>
          <p:nvPr/>
        </p:nvGrpSpPr>
        <p:grpSpPr>
          <a:xfrm>
            <a:off x="768350" y="1783080"/>
            <a:ext cx="11082020" cy="868680"/>
            <a:chOff x="720" y="2808"/>
            <a:chExt cx="17452" cy="1368"/>
          </a:xfrm>
        </p:grpSpPr>
        <p:sp>
          <p:nvSpPr>
            <p:cNvPr id="8" name="Shape 6"/>
            <p:cNvSpPr/>
            <p:nvPr/>
          </p:nvSpPr>
          <p:spPr>
            <a:xfrm>
              <a:off x="720" y="2808"/>
              <a:ext cx="2765" cy="1368"/>
            </a:xfrm>
            <a:prstGeom prst="rect">
              <a:avLst/>
            </a:prstGeom>
            <a:solidFill>
              <a:srgbClr val="0E2A4A"/>
            </a:solidFill>
          </p:spPr>
        </p:sp>
        <p:sp>
          <p:nvSpPr>
            <p:cNvPr id="9" name="Text 7"/>
            <p:cNvSpPr/>
            <p:nvPr/>
          </p:nvSpPr>
          <p:spPr>
            <a:xfrm>
              <a:off x="864" y="2952"/>
              <a:ext cx="2477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Georgia" panose="02040502050405020303" pitchFamily="34" charset="0"/>
                  <a:ea typeface="Georgia" panose="02040502050405020303" pitchFamily="34" charset="-122"/>
                  <a:cs typeface="Georgia" panose="02040502050405020303" pitchFamily="34" charset="-120"/>
                </a:rPr>
                <a:t>Static Map</a:t>
              </a:r>
              <a:endParaRPr lang="en-US" sz="1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864" y="3528"/>
              <a:ext cx="2477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9FC9D6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tennis_field.pgm</a:t>
              </a:r>
              <a:endParaRPr lang="en-US" sz="9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492" y="3492"/>
              <a:ext cx="158" cy="0"/>
            </a:xfrm>
            <a:prstGeom prst="line">
              <a:avLst/>
            </a:prstGeom>
            <a:noFill/>
            <a:ln w="25400">
              <a:solidFill>
                <a:srgbClr val="00B7C7"/>
              </a:solidFill>
              <a:prstDash val="solid"/>
              <a:tailEnd type="triangle"/>
            </a:ln>
          </p:spPr>
        </p:sp>
        <p:sp>
          <p:nvSpPr>
            <p:cNvPr id="12" name="Shape 10"/>
            <p:cNvSpPr/>
            <p:nvPr/>
          </p:nvSpPr>
          <p:spPr>
            <a:xfrm>
              <a:off x="3658" y="2808"/>
              <a:ext cx="2765" cy="1368"/>
            </a:xfrm>
            <a:prstGeom prst="rect">
              <a:avLst/>
            </a:prstGeom>
            <a:solidFill>
              <a:srgbClr val="0E2A4A"/>
            </a:solidFill>
          </p:spPr>
        </p:sp>
        <p:sp>
          <p:nvSpPr>
            <p:cNvPr id="13" name="Text 11"/>
            <p:cNvSpPr/>
            <p:nvPr/>
          </p:nvSpPr>
          <p:spPr>
            <a:xfrm>
              <a:off x="3802" y="2952"/>
              <a:ext cx="2477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Georgia" panose="02040502050405020303" pitchFamily="34" charset="0"/>
                  <a:ea typeface="Georgia" panose="02040502050405020303" pitchFamily="34" charset="-122"/>
                  <a:cs typeface="Georgia" panose="02040502050405020303" pitchFamily="34" charset="-120"/>
                </a:rPr>
                <a:t>Bring-up</a:t>
              </a:r>
              <a:endParaRPr lang="en-US" sz="1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802" y="3528"/>
              <a:ext cx="2477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9FC9D6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Lidar · EP · TF · EKF</a:t>
              </a:r>
              <a:endParaRPr lang="en-US" sz="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430" y="3492"/>
              <a:ext cx="158" cy="0"/>
            </a:xfrm>
            <a:prstGeom prst="line">
              <a:avLst/>
            </a:prstGeom>
            <a:noFill/>
            <a:ln w="25400">
              <a:solidFill>
                <a:srgbClr val="00B7C7"/>
              </a:solidFill>
              <a:prstDash val="solid"/>
              <a:tailEnd type="triangle"/>
            </a:ln>
          </p:spPr>
        </p:sp>
        <p:sp>
          <p:nvSpPr>
            <p:cNvPr id="16" name="Shape 14"/>
            <p:cNvSpPr/>
            <p:nvPr/>
          </p:nvSpPr>
          <p:spPr>
            <a:xfrm>
              <a:off x="6595" y="2808"/>
              <a:ext cx="2765" cy="1368"/>
            </a:xfrm>
            <a:prstGeom prst="rect">
              <a:avLst/>
            </a:prstGeom>
            <a:solidFill>
              <a:srgbClr val="1F4877"/>
            </a:solidFill>
          </p:spPr>
        </p:sp>
        <p:sp>
          <p:nvSpPr>
            <p:cNvPr id="17" name="Text 15"/>
            <p:cNvSpPr/>
            <p:nvPr/>
          </p:nvSpPr>
          <p:spPr>
            <a:xfrm>
              <a:off x="6739" y="2952"/>
              <a:ext cx="2477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Georgia" panose="02040502050405020303" pitchFamily="34" charset="0"/>
                  <a:ea typeface="Georgia" panose="02040502050405020303" pitchFamily="34" charset="-122"/>
                  <a:cs typeface="Georgia" panose="02040502050405020303" pitchFamily="34" charset="-120"/>
                </a:rPr>
                <a:t>Nav2 Stack</a:t>
              </a:r>
              <a:endParaRPr lang="en-US" sz="1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739" y="3528"/>
              <a:ext cx="2477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9FC9D6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AMCL + planner + DWB</a:t>
              </a:r>
              <a:endParaRPr lang="en-US" sz="9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9367" y="3492"/>
              <a:ext cx="158" cy="0"/>
            </a:xfrm>
            <a:prstGeom prst="line">
              <a:avLst/>
            </a:prstGeom>
            <a:noFill/>
            <a:ln w="25400">
              <a:solidFill>
                <a:srgbClr val="00B7C7"/>
              </a:solidFill>
              <a:prstDash val="solid"/>
              <a:tailEnd type="triangle"/>
            </a:ln>
          </p:spPr>
        </p:sp>
        <p:sp>
          <p:nvSpPr>
            <p:cNvPr id="20" name="Shape 18"/>
            <p:cNvSpPr/>
            <p:nvPr/>
          </p:nvSpPr>
          <p:spPr>
            <a:xfrm>
              <a:off x="9533" y="2808"/>
              <a:ext cx="2765" cy="1368"/>
            </a:xfrm>
            <a:prstGeom prst="rect">
              <a:avLst/>
            </a:prstGeom>
            <a:solidFill>
              <a:srgbClr val="1F4877"/>
            </a:solidFill>
          </p:spPr>
        </p:sp>
        <p:sp>
          <p:nvSpPr>
            <p:cNvPr id="21" name="Text 19"/>
            <p:cNvSpPr/>
            <p:nvPr/>
          </p:nvSpPr>
          <p:spPr>
            <a:xfrm>
              <a:off x="9677" y="2952"/>
              <a:ext cx="2477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Georgia" panose="02040502050405020303" pitchFamily="34" charset="0"/>
                  <a:ea typeface="Georgia" panose="02040502050405020303" pitchFamily="34" charset="-122"/>
                  <a:cs typeface="Georgia" panose="02040502050405020303" pitchFamily="34" charset="-120"/>
                </a:rPr>
                <a:t>Vision Loop</a:t>
              </a:r>
              <a:endParaRPr lang="en-US" sz="12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9677" y="3528"/>
              <a:ext cx="2477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9FC9D6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YOLOv5 @ 30 fps</a:t>
              </a:r>
              <a:endParaRPr lang="en-US" sz="9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12305" y="3492"/>
              <a:ext cx="158" cy="0"/>
            </a:xfrm>
            <a:prstGeom prst="line">
              <a:avLst/>
            </a:prstGeom>
            <a:noFill/>
            <a:ln w="25400">
              <a:solidFill>
                <a:srgbClr val="00B7C7"/>
              </a:solidFill>
              <a:prstDash val="solid"/>
              <a:tailEnd type="triangle"/>
            </a:ln>
          </p:spPr>
        </p:sp>
        <p:sp>
          <p:nvSpPr>
            <p:cNvPr id="24" name="Shape 22"/>
            <p:cNvSpPr/>
            <p:nvPr/>
          </p:nvSpPr>
          <p:spPr>
            <a:xfrm>
              <a:off x="12470" y="2808"/>
              <a:ext cx="2765" cy="1368"/>
            </a:xfrm>
            <a:prstGeom prst="rect">
              <a:avLst/>
            </a:prstGeom>
            <a:solidFill>
              <a:srgbClr val="00B7C7"/>
            </a:solidFill>
          </p:spPr>
        </p:sp>
        <p:sp>
          <p:nvSpPr>
            <p:cNvPr id="25" name="Text 23"/>
            <p:cNvSpPr/>
            <p:nvPr/>
          </p:nvSpPr>
          <p:spPr>
            <a:xfrm>
              <a:off x="12614" y="2952"/>
              <a:ext cx="2477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E2A4A"/>
                  </a:solidFill>
                  <a:latin typeface="Georgia" panose="02040502050405020303" pitchFamily="34" charset="0"/>
                  <a:ea typeface="Georgia" panose="02040502050405020303" pitchFamily="34" charset="-122"/>
                  <a:cs typeface="Georgia" panose="02040502050405020303" pitchFamily="34" charset="-120"/>
                </a:rPr>
                <a:t>State Machine</a:t>
              </a:r>
              <a:endParaRPr lang="en-US" sz="12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2614" y="3528"/>
              <a:ext cx="2477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0E2A4A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5-state controller</a:t>
              </a:r>
              <a:endParaRPr lang="en-US" sz="9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15242" y="3492"/>
              <a:ext cx="158" cy="0"/>
            </a:xfrm>
            <a:prstGeom prst="line">
              <a:avLst/>
            </a:prstGeom>
            <a:noFill/>
            <a:ln w="25400">
              <a:solidFill>
                <a:srgbClr val="00B7C7"/>
              </a:solidFill>
              <a:prstDash val="solid"/>
              <a:tailEnd type="triangle"/>
            </a:ln>
          </p:spPr>
        </p:sp>
        <p:sp>
          <p:nvSpPr>
            <p:cNvPr id="28" name="Shape 26"/>
            <p:cNvSpPr/>
            <p:nvPr/>
          </p:nvSpPr>
          <p:spPr>
            <a:xfrm>
              <a:off x="15408" y="2808"/>
              <a:ext cx="2765" cy="1368"/>
            </a:xfrm>
            <a:prstGeom prst="rect">
              <a:avLst/>
            </a:prstGeom>
            <a:solidFill>
              <a:srgbClr val="00B7C7"/>
            </a:solidFill>
          </p:spPr>
        </p:sp>
        <p:sp>
          <p:nvSpPr>
            <p:cNvPr id="29" name="Text 27"/>
            <p:cNvSpPr/>
            <p:nvPr/>
          </p:nvSpPr>
          <p:spPr>
            <a:xfrm>
              <a:off x="15552" y="2952"/>
              <a:ext cx="2477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E2A4A"/>
                  </a:solidFill>
                  <a:latin typeface="Georgia" panose="02040502050405020303" pitchFamily="34" charset="0"/>
                  <a:ea typeface="Georgia" panose="02040502050405020303" pitchFamily="34" charset="-122"/>
                  <a:cs typeface="Georgia" panose="02040502050405020303" pitchFamily="34" charset="-120"/>
                </a:rPr>
                <a:t>Actuation</a:t>
              </a:r>
              <a:endParaRPr lang="en-US" sz="12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15552" y="3528"/>
              <a:ext cx="2477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0E2A4A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/cmd_vel + arm + grip</a:t>
              </a:r>
              <a:endParaRPr lang="en-US" sz="900" dirty="0"/>
            </a:p>
          </p:txBody>
        </p:sp>
      </p:grpSp>
      <p:sp>
        <p:nvSpPr>
          <p:cNvPr id="31" name="Text 29"/>
          <p:cNvSpPr/>
          <p:nvPr/>
        </p:nvSpPr>
        <p:spPr>
          <a:xfrm>
            <a:off x="457200" y="2971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 STATE MACHINE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" y="3474720"/>
            <a:ext cx="1828800" cy="1371600"/>
          </a:xfrm>
          <a:prstGeom prst="rect">
            <a:avLst/>
          </a:prstGeom>
          <a:solidFill>
            <a:srgbClr val="0E2A4A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" y="35844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5DD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 01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0080" y="38862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SEARCHING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5800" y="43891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6C5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 for balls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14600" y="4160520"/>
            <a:ext cx="457200" cy="0"/>
          </a:xfrm>
          <a:prstGeom prst="line">
            <a:avLst/>
          </a:prstGeom>
          <a:noFill/>
          <a:ln w="31750">
            <a:solidFill>
              <a:srgbClr val="00B7C7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017520" y="3474720"/>
            <a:ext cx="1828800" cy="1371600"/>
          </a:xfrm>
          <a:prstGeom prst="rect">
            <a:avLst/>
          </a:prstGeom>
          <a:solidFill>
            <a:srgbClr val="0E2A4A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017520" y="35844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5DD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 02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017520" y="38862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ROTATING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063240" y="43891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6C5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align heading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92040" y="4160520"/>
            <a:ext cx="457200" cy="0"/>
          </a:xfrm>
          <a:prstGeom prst="line">
            <a:avLst/>
          </a:prstGeom>
          <a:noFill/>
          <a:ln w="31750">
            <a:solidFill>
              <a:srgbClr val="00B7C7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394960" y="3474720"/>
            <a:ext cx="1828800" cy="1371600"/>
          </a:xfrm>
          <a:prstGeom prst="rect">
            <a:avLst/>
          </a:prstGeom>
          <a:solidFill>
            <a:srgbClr val="00B7C7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394960" y="35844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0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 03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394960" y="38862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GRABBING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440680" y="43891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approach + close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269480" y="4160520"/>
            <a:ext cx="457200" cy="0"/>
          </a:xfrm>
          <a:prstGeom prst="line">
            <a:avLst/>
          </a:prstGeom>
          <a:noFill/>
          <a:ln w="31750">
            <a:solidFill>
              <a:srgbClr val="00B7C7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7772400" y="3474720"/>
            <a:ext cx="1828800" cy="1371600"/>
          </a:xfrm>
          <a:prstGeom prst="rect">
            <a:avLst/>
          </a:prstGeom>
          <a:solidFill>
            <a:srgbClr val="0E2A4A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772400" y="35844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5DD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 04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772400" y="38862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PLACING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818120" y="43891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6C5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Nav2 to bin · drop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646920" y="4160520"/>
            <a:ext cx="457200" cy="0"/>
          </a:xfrm>
          <a:prstGeom prst="line">
            <a:avLst/>
          </a:prstGeom>
          <a:noFill/>
          <a:ln w="31750">
            <a:solidFill>
              <a:srgbClr val="00B7C7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10149840" y="3474720"/>
            <a:ext cx="1828800" cy="1371600"/>
          </a:xfrm>
          <a:prstGeom prst="rect">
            <a:avLst/>
          </a:prstGeom>
          <a:solidFill>
            <a:srgbClr val="0E2A4A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0149840" y="35844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5DD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 05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0149840" y="38862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HOMING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195560" y="43891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6C5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reset arm + gripper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1064240" y="4846320"/>
            <a:ext cx="0" cy="548640"/>
          </a:xfrm>
          <a:prstGeom prst="line">
            <a:avLst/>
          </a:prstGeom>
          <a:noFill/>
          <a:ln w="19050">
            <a:solidFill>
              <a:srgbClr val="00B7C7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1554480" y="5394960"/>
            <a:ext cx="9509760" cy="0"/>
          </a:xfrm>
          <a:prstGeom prst="line">
            <a:avLst/>
          </a:prstGeom>
          <a:noFill/>
          <a:ln w="19050">
            <a:solidFill>
              <a:srgbClr val="00B7C7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1554480" y="4846320"/>
            <a:ext cx="0" cy="548640"/>
          </a:xfrm>
          <a:prstGeom prst="line">
            <a:avLst/>
          </a:prstGeom>
          <a:noFill/>
          <a:ln w="19050">
            <a:solidFill>
              <a:srgbClr val="00B7C7"/>
            </a:solidFill>
            <a:prstDash val="dash"/>
            <a:headEnd type="triangle"/>
          </a:ln>
        </p:spPr>
      </p:sp>
      <p:sp>
        <p:nvSpPr>
          <p:cNvPr id="59" name="Text 57"/>
          <p:cNvSpPr/>
          <p:nvPr/>
        </p:nvSpPr>
        <p:spPr>
          <a:xfrm>
            <a:off x="1737360" y="54132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 back when HOMING completes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61" name="Text 59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 INPUTS  </a:t>
            </a:r>
            <a:r>
              <a:rPr lang="en-US" sz="10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Vosk subprocess → pause/resume queue   ·   </a:t>
            </a:r>
            <a:r>
              <a:rPr lang="en-US" sz="10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ToF Range topic → grab trigger   ·   </a:t>
            </a:r>
            <a:r>
              <a:rPr lang="en-US" sz="10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AMCL pose → planner feedback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OVERVIEW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09</a:t>
            </a:r>
            <a:r>
              <a:rPr lang="en-US" sz="1000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 21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616952" y="64465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17 · TENNIS-BOT</a:t>
            </a:r>
            <a:endParaRPr lang="en-US" sz="800" dirty="0"/>
          </a:p>
        </p:txBody>
      </p:sp>
      <p:pic>
        <p:nvPicPr>
          <p:cNvPr id="67" name="图片 66" descr="ouc"/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-2512060" y="-1130935"/>
            <a:ext cx="12895580" cy="91205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ouc"/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-2790190" y="-1130935"/>
            <a:ext cx="12895580" cy="912050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FLOW ·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Step 1 — Building the Static Map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228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7" name="Text 5"/>
          <p:cNvSpPr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OFFLINE PHASE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Capture the court with SLAM Toolbox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57607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 any autonomous run we tele-operate the robot once around the tennis court. YDLidar X3 scans, slam_toolbox accumulates an occupancy grid in RViz, and nav2_map_server snapshots the result to tennis_field.pgm + .yaml — the ground truth that Nav2 will localize against later.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 SEQUENCE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4160520"/>
            <a:ext cx="292608" cy="292608"/>
          </a:xfrm>
          <a:prstGeom prst="ellipse">
            <a:avLst/>
          </a:prstGeom>
          <a:solidFill>
            <a:srgbClr val="00B7C7"/>
          </a:solidFill>
        </p:spPr>
      </p:sp>
      <p:sp>
        <p:nvSpPr>
          <p:cNvPr id="12" name="Text 10"/>
          <p:cNvSpPr/>
          <p:nvPr/>
        </p:nvSpPr>
        <p:spPr>
          <a:xfrm>
            <a:off x="457200" y="41605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417880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2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ydlidar_ros2_driver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4160520"/>
            <a:ext cx="292608" cy="292608"/>
          </a:xfrm>
          <a:prstGeom prst="ellipse">
            <a:avLst/>
          </a:prstGeom>
          <a:solidFill>
            <a:srgbClr val="00B7C7"/>
          </a:solidFill>
        </p:spPr>
      </p:sp>
      <p:sp>
        <p:nvSpPr>
          <p:cNvPr id="15" name="Text 13"/>
          <p:cNvSpPr/>
          <p:nvPr/>
        </p:nvSpPr>
        <p:spPr>
          <a:xfrm>
            <a:off x="3383280" y="41605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67328" y="417880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2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robomaster_ros (EP)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292608" cy="292608"/>
          </a:xfrm>
          <a:prstGeom prst="ellipse">
            <a:avLst/>
          </a:prstGeom>
          <a:solidFill>
            <a:srgbClr val="00B7C7"/>
          </a:solidFill>
        </p:spPr>
      </p:sp>
      <p:sp>
        <p:nvSpPr>
          <p:cNvPr id="18" name="Text 16"/>
          <p:cNvSpPr/>
          <p:nvPr/>
        </p:nvSpPr>
        <p:spPr>
          <a:xfrm>
            <a:off x="457200" y="45720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" y="459028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2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static TF base_link→laser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4572000"/>
            <a:ext cx="292608" cy="292608"/>
          </a:xfrm>
          <a:prstGeom prst="ellipse">
            <a:avLst/>
          </a:prstGeom>
          <a:solidFill>
            <a:srgbClr val="00B7C7"/>
          </a:solidFill>
        </p:spPr>
      </p:sp>
      <p:sp>
        <p:nvSpPr>
          <p:cNvPr id="21" name="Text 19"/>
          <p:cNvSpPr/>
          <p:nvPr/>
        </p:nvSpPr>
        <p:spPr>
          <a:xfrm>
            <a:off x="3383280" y="45720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67328" y="459028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2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EKF (robot_localization)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983480"/>
            <a:ext cx="292608" cy="292608"/>
          </a:xfrm>
          <a:prstGeom prst="ellipse">
            <a:avLst/>
          </a:prstGeom>
          <a:solidFill>
            <a:srgbClr val="00B7C7"/>
          </a:solidFill>
        </p:spPr>
      </p:sp>
      <p:sp>
        <p:nvSpPr>
          <p:cNvPr id="24" name="Text 22"/>
          <p:cNvSpPr/>
          <p:nvPr/>
        </p:nvSpPr>
        <p:spPr>
          <a:xfrm>
            <a:off x="457200" y="498348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" y="500176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2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slam_toolbox async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4983480"/>
            <a:ext cx="292608" cy="292608"/>
          </a:xfrm>
          <a:prstGeom prst="ellipse">
            <a:avLst/>
          </a:prstGeom>
          <a:solidFill>
            <a:srgbClr val="00B7C7"/>
          </a:solidFill>
        </p:spPr>
      </p:sp>
      <p:sp>
        <p:nvSpPr>
          <p:cNvPr id="27" name="Text 25"/>
          <p:cNvSpPr/>
          <p:nvPr/>
        </p:nvSpPr>
        <p:spPr>
          <a:xfrm>
            <a:off x="3383280" y="498348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67328" y="500176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2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RViz2 visualization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5394960"/>
            <a:ext cx="292608" cy="292608"/>
          </a:xfrm>
          <a:prstGeom prst="ellipse">
            <a:avLst/>
          </a:prstGeom>
          <a:solidFill>
            <a:srgbClr val="00B7C7"/>
          </a:solidFill>
        </p:spPr>
      </p:sp>
      <p:sp>
        <p:nvSpPr>
          <p:cNvPr id="30" name="Text 28"/>
          <p:cNvSpPr/>
          <p:nvPr/>
        </p:nvSpPr>
        <p:spPr>
          <a:xfrm>
            <a:off x="457200" y="539496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" y="541324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22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nav2_map_server save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92240" y="141732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pic>
        <p:nvPicPr>
          <p:cNvPr id="33" name="Image 0" descr="/home/claude/assets/tennis_field_map_lar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766560" y="1691640"/>
            <a:ext cx="4663440" cy="384048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492240" y="5669280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tennis_field.pgm — saved occupancy grid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492240" y="5925312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white = free   ·   black = obstacle   ·   gray = unknown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 BUILDING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</a:t>
            </a:r>
            <a:r>
              <a:rPr lang="en-US" sz="1000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 21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616952" y="64465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17 · TENNIS-BOT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ouc"/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-2512060" y="-1130935"/>
            <a:ext cx="12895580" cy="912050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FLOW ·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State 1 — SEARCHING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228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7" name="Text 5"/>
          <p:cNvSpPr/>
          <p:nvPr/>
        </p:nvSpPr>
        <p:spPr>
          <a:xfrm>
            <a:off x="457200" y="14173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Drive YOLOv5 inference on every frame. When a tennis ball is confidently detected for several consecutive frames, lock onto the nearest one and hand off to ROTATING.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6400800" cy="3291840"/>
          </a:xfrm>
          <a:prstGeom prst="rect">
            <a:avLst/>
          </a:prstGeom>
          <a:solidFill>
            <a:srgbClr val="0F1B2D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880360"/>
            <a:ext cx="128016" cy="128016"/>
          </a:xfrm>
          <a:prstGeom prst="ellipse">
            <a:avLst/>
          </a:prstGeom>
          <a:solidFill>
            <a:srgbClr val="E15D5C"/>
          </a:solidFill>
        </p:spPr>
      </p:sp>
      <p:sp>
        <p:nvSpPr>
          <p:cNvPr id="11" name="Shape 9"/>
          <p:cNvSpPr/>
          <p:nvPr/>
        </p:nvSpPr>
        <p:spPr>
          <a:xfrm>
            <a:off x="795528" y="2880360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12" name="Shape 10"/>
          <p:cNvSpPr/>
          <p:nvPr/>
        </p:nvSpPr>
        <p:spPr>
          <a:xfrm>
            <a:off x="996696" y="2880360"/>
            <a:ext cx="128016" cy="128016"/>
          </a:xfrm>
          <a:prstGeom prst="ellipse">
            <a:avLst/>
          </a:prstGeom>
          <a:solidFill>
            <a:srgbClr val="3BB273"/>
          </a:solidFill>
        </p:spPr>
      </p:sp>
      <p:sp>
        <p:nvSpPr>
          <p:cNvPr id="13" name="Text 11"/>
          <p:cNvSpPr/>
          <p:nvPr/>
        </p:nvSpPr>
        <p:spPr>
          <a:xfrm>
            <a:off x="1280160" y="28346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run_searching(self):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6126480" cy="269748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DD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run_searching(self):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frame, detections = self._get_frame_and_detections()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high = [d for d in detections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if d['class_name'] == 'tennis'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and d['confidence'] &gt; 0.7]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high: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self.detect_count += 1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 self.detect_count &gt;= DETECT_CONFIRM_FRAMES: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self.target_bbox = \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self._select_nearest_ball(high)['bbox']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2A6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return 'ROTATING'   # transition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else: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self.lost_count += 1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 self.lost_count &gt;= LOST_TRIGGER_FRAMES: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self._small_angle_search()  # rotate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'SEARCHING'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40880" y="1417320"/>
            <a:ext cx="4663440" cy="3657600"/>
          </a:xfrm>
          <a:prstGeom prst="rect">
            <a:avLst/>
          </a:prstGeom>
          <a:solidFill>
            <a:srgbClr val="000000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pic>
        <p:nvPicPr>
          <p:cNvPr id="16" name="Image 0" descr="/home/claude/assets/state_searchin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086600" y="1463040"/>
            <a:ext cx="4572000" cy="35661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040880" y="512064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HUD: STATE: SEARCHING — no detection above 0.7 confidence yet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040880" y="5486400"/>
            <a:ext cx="4663440" cy="27432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19" name="Text 16"/>
          <p:cNvSpPr/>
          <p:nvPr/>
        </p:nvSpPr>
        <p:spPr>
          <a:xfrm>
            <a:off x="7178040" y="54864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DETECT_CONFIRM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418320" y="5486400"/>
            <a:ext cx="2194560" cy="27432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B7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 frames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040880" y="5797296"/>
            <a:ext cx="4663440" cy="27432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22" name="Text 19"/>
          <p:cNvSpPr/>
          <p:nvPr/>
        </p:nvSpPr>
        <p:spPr>
          <a:xfrm>
            <a:off x="7178040" y="579729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LOST_TRIGGER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418320" y="5797296"/>
            <a:ext cx="2194560" cy="27432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B7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 frames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040880" y="6108192"/>
            <a:ext cx="4663440" cy="27432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25" name="Text 22"/>
          <p:cNvSpPr/>
          <p:nvPr/>
        </p:nvSpPr>
        <p:spPr>
          <a:xfrm>
            <a:off x="7178040" y="610819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418320" y="6108192"/>
            <a:ext cx="2194560" cy="27432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B7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 0.7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STATE: SEARCHING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922762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</a:t>
            </a:r>
            <a:r>
              <a:rPr lang="en-US" sz="1000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 21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616952" y="64465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17 · TENNIS-BOT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ouc"/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-2512060" y="-1130935"/>
            <a:ext cx="12895580" cy="912050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FLOW ·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State 2 — ROTATING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228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7" name="Shape 5"/>
          <p:cNvSpPr/>
          <p:nvPr/>
        </p:nvSpPr>
        <p:spPr>
          <a:xfrm>
            <a:off x="457200" y="1417320"/>
            <a:ext cx="4663440" cy="3657600"/>
          </a:xfrm>
          <a:prstGeom prst="rect">
            <a:avLst/>
          </a:prstGeom>
          <a:solidFill>
            <a:srgbClr val="000000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pic>
        <p:nvPicPr>
          <p:cNvPr id="8" name="Image 0" descr="/home/claude/assets/state_rotatin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2920" y="1463040"/>
            <a:ext cx="4572000" cy="3566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12064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HUD: STATE: ROTATING — chassis yawing until ball is image-centered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5486400"/>
            <a:ext cx="4663440" cy="27432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11" name="Text 8"/>
          <p:cNvSpPr/>
          <p:nvPr/>
        </p:nvSpPr>
        <p:spPr>
          <a:xfrm>
            <a:off x="594360" y="548640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Proportional control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331720" y="5486400"/>
            <a:ext cx="2697480" cy="27432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0B7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angle ∝ offset · 50° · damping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5797296"/>
            <a:ext cx="4663440" cy="27432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14" name="Text 11"/>
          <p:cNvSpPr/>
          <p:nvPr/>
        </p:nvSpPr>
        <p:spPr>
          <a:xfrm>
            <a:off x="594360" y="5797296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Oscillation guard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331720" y="5797296"/>
            <a:ext cx="2697480" cy="27432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0B7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damping ×= 0.6 on sign flip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7200" y="6108192"/>
            <a:ext cx="4663440" cy="27432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17" name="Text 14"/>
          <p:cNvSpPr/>
          <p:nvPr/>
        </p:nvSpPr>
        <p:spPr>
          <a:xfrm>
            <a:off x="594360" y="6108192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Timestamp gate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331720" y="6108192"/>
            <a:ext cx="2697480" cy="27432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0B7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Only frames newer than last rotate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349240" y="14173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INTENT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349240" y="169164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Close a vision feedback loop: keep yawing the holonomic base until the ball's bounding-box center sits within ROTATE_TOLERANCE_PX of the image center.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349240" y="2743200"/>
            <a:ext cx="6400800" cy="3657600"/>
          </a:xfrm>
          <a:prstGeom prst="rect">
            <a:avLst/>
          </a:prstGeom>
          <a:solidFill>
            <a:srgbClr val="0F1B2D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0" y="2880360"/>
            <a:ext cx="128016" cy="128016"/>
          </a:xfrm>
          <a:prstGeom prst="ellipse">
            <a:avLst/>
          </a:prstGeom>
          <a:solidFill>
            <a:srgbClr val="E15D5C"/>
          </a:solidFill>
        </p:spPr>
      </p:sp>
      <p:sp>
        <p:nvSpPr>
          <p:cNvPr id="23" name="Shape 20"/>
          <p:cNvSpPr/>
          <p:nvPr/>
        </p:nvSpPr>
        <p:spPr>
          <a:xfrm>
            <a:off x="5687568" y="2880360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24" name="Shape 21"/>
          <p:cNvSpPr/>
          <p:nvPr/>
        </p:nvSpPr>
        <p:spPr>
          <a:xfrm>
            <a:off x="5888736" y="2880360"/>
            <a:ext cx="128016" cy="128016"/>
          </a:xfrm>
          <a:prstGeom prst="ellipse">
            <a:avLst/>
          </a:prstGeom>
          <a:solidFill>
            <a:srgbClr val="3BB273"/>
          </a:solidFill>
        </p:spPr>
      </p:sp>
      <p:sp>
        <p:nvSpPr>
          <p:cNvPr id="25" name="Text 22"/>
          <p:cNvSpPr/>
          <p:nvPr/>
        </p:nvSpPr>
        <p:spPr>
          <a:xfrm>
            <a:off x="6172200" y="28346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run_rotating() — vision-servo align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532120" y="3200400"/>
            <a:ext cx="6126480" cy="306324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DD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cnt in range(max_retry):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frame, detections = self._wait_fresh_frame(...)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nearest = self._select_nearest_ball(high)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x1, _, x2, _ = nearest['bbox']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offset = (x1 + x2)/2 - IMG_CENTER_X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abs(offset) &lt;= ROTATE_TOLERANCE_PX: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2A6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return 'GRABBING'         # aligned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DD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adaptive damping to suppress oscillation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last_offset is not None and \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last_offset * offset &lt; 0: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damping *= 0.6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angle = (offset/(IMG_W/2)) * 50 * damping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self.chassis_move(0, 0, -angle, ...)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STATE: ROTATING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</a:t>
            </a:r>
            <a:r>
              <a:rPr lang="en-US" sz="1000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 21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616952" y="64465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17 · TENNIS-BOT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ouc"/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-2512060" y="-1130935"/>
            <a:ext cx="12895580" cy="912050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FLOW ·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State 3 — GRABBING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228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7" name="Text 5"/>
          <p:cNvSpPr/>
          <p:nvPr/>
        </p:nvSpPr>
        <p:spPr>
          <a:xfrm>
            <a:off x="457200" y="14173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the gripper, drive forward while keeping the ball centered, and trip the grasp when ToF returns &lt; TOF_TRIGGER_M. Close the gripper, then lift the arm for transport.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6400800" cy="3200400"/>
          </a:xfrm>
          <a:prstGeom prst="rect">
            <a:avLst/>
          </a:prstGeom>
          <a:solidFill>
            <a:srgbClr val="0F1B2D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3063240"/>
            <a:ext cx="128016" cy="128016"/>
          </a:xfrm>
          <a:prstGeom prst="ellipse">
            <a:avLst/>
          </a:prstGeom>
          <a:solidFill>
            <a:srgbClr val="E15D5C"/>
          </a:solidFill>
        </p:spPr>
      </p:sp>
      <p:sp>
        <p:nvSpPr>
          <p:cNvPr id="11" name="Shape 9"/>
          <p:cNvSpPr/>
          <p:nvPr/>
        </p:nvSpPr>
        <p:spPr>
          <a:xfrm>
            <a:off x="795528" y="3063240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12" name="Shape 10"/>
          <p:cNvSpPr/>
          <p:nvPr/>
        </p:nvSpPr>
        <p:spPr>
          <a:xfrm>
            <a:off x="996696" y="3063240"/>
            <a:ext cx="128016" cy="128016"/>
          </a:xfrm>
          <a:prstGeom prst="ellipse">
            <a:avLst/>
          </a:prstGeom>
          <a:solidFill>
            <a:srgbClr val="3BB273"/>
          </a:solidFill>
        </p:spPr>
      </p:sp>
      <p:sp>
        <p:nvSpPr>
          <p:cNvPr id="13" name="Text 11"/>
          <p:cNvSpPr/>
          <p:nvPr/>
        </p:nvSpPr>
        <p:spPr>
          <a:xfrm>
            <a:off x="1280160" y="3017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run_grabbing() — visual servo + ToF trigger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6126480" cy="260604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self.gripper_set(target='open', power=0.8)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twist = Twist()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DD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while time.time() - start &lt; 10: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DD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1) ToF triggers the grasp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self.latest_tof_m &lt;= TOF_TRIGGER_M: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2A6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arrived = True; break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DD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2) visual centering correction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offset = self._current_ball_offset()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twist.linear.x  = CHASSIS_LINEAR_SPEED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twist.angular.z = -k * offset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self.cmd_vel_pub.publish(twist)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self.gripper_set(target='close', power=0.8)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self.arm_move(ARM_GRAB_LIFT_X, ARM_GRAB_LIFT_Z)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2A6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return 'PLACING'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40880" y="1417320"/>
            <a:ext cx="4663440" cy="3657600"/>
          </a:xfrm>
          <a:prstGeom prst="rect">
            <a:avLst/>
          </a:prstGeom>
          <a:solidFill>
            <a:srgbClr val="000000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pic>
        <p:nvPicPr>
          <p:cNvPr id="16" name="Image 0" descr="/home/claude/assets/state_grabbin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086600" y="1463040"/>
            <a:ext cx="4572000" cy="35661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040880" y="512064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Tennis ball framed by YOLOv5 — ToF closing in on trigger threshold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040880" y="5486400"/>
            <a:ext cx="4663440" cy="27432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19" name="Text 16"/>
          <p:cNvSpPr/>
          <p:nvPr/>
        </p:nvSpPr>
        <p:spPr>
          <a:xfrm>
            <a:off x="7178040" y="54864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ToF Trigger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418320" y="5486400"/>
            <a:ext cx="2194560" cy="27432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B7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≤ 0.13 m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040880" y="5797296"/>
            <a:ext cx="4663440" cy="27432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22" name="Text 19"/>
          <p:cNvSpPr/>
          <p:nvPr/>
        </p:nvSpPr>
        <p:spPr>
          <a:xfrm>
            <a:off x="7178040" y="579729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Speed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418320" y="5797296"/>
            <a:ext cx="2194560" cy="27432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B7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0.30 m/s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040880" y="6108192"/>
            <a:ext cx="4663440" cy="27432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25" name="Text 22"/>
          <p:cNvSpPr/>
          <p:nvPr/>
        </p:nvSpPr>
        <p:spPr>
          <a:xfrm>
            <a:off x="7178040" y="610819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418320" y="6108192"/>
            <a:ext cx="2194560" cy="27432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B7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PLACING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STATE: GRABBING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13</a:t>
            </a:r>
            <a:r>
              <a:rPr lang="en-US" sz="1000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 21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616952" y="64465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17 · TENNIS-BOT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ouc"/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-2512060" y="-1130935"/>
            <a:ext cx="12895580" cy="912050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FLOW · 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State 4 — PLACING (Nav2 Autonomous Drive)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228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7" name="Shape 5"/>
          <p:cNvSpPr/>
          <p:nvPr/>
        </p:nvSpPr>
        <p:spPr>
          <a:xfrm>
            <a:off x="457200" y="1417320"/>
            <a:ext cx="4663440" cy="3657600"/>
          </a:xfrm>
          <a:prstGeom prst="rect">
            <a:avLst/>
          </a:prstGeom>
          <a:solidFill>
            <a:srgbClr val="000000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pic>
        <p:nvPicPr>
          <p:cNvPr id="8" name="Image 0" descr="/home/claude/assets/state_placin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2920" y="1463040"/>
            <a:ext cx="4572000" cy="3566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12064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Robot autonomously navigating to the drop bin under Nav2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5486400"/>
            <a:ext cx="4663440" cy="27432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11" name="Text 8"/>
          <p:cNvSpPr/>
          <p:nvPr/>
        </p:nvSpPr>
        <p:spPr>
          <a:xfrm>
            <a:off x="594360" y="548640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 client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331720" y="5486400"/>
            <a:ext cx="2697480" cy="27432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B7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/navigate_to_pose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5797296"/>
            <a:ext cx="4663440" cy="27432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14" name="Text 11"/>
          <p:cNvSpPr/>
          <p:nvPr/>
        </p:nvSpPr>
        <p:spPr>
          <a:xfrm>
            <a:off x="594360" y="5797296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plan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331720" y="5797296"/>
            <a:ext cx="2697480" cy="27432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B7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A* / Dijkstra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" y="6108192"/>
            <a:ext cx="4663440" cy="27432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17" name="Text 14"/>
          <p:cNvSpPr/>
          <p:nvPr/>
        </p:nvSpPr>
        <p:spPr>
          <a:xfrm>
            <a:off x="594360" y="6108192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plan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331720" y="6108192"/>
            <a:ext cx="2697480" cy="27432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B7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DWB + costmap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349240" y="14173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INTENT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349240" y="169164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Replaced the old open-loop trajectory with a Nav2 NavigateToPose call. Nav2 plans globally, dodges obstacles locally, AMCL refines the pose on arrival — release the ball, then reverse and rotate home.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349240" y="2743200"/>
            <a:ext cx="6400800" cy="3657600"/>
          </a:xfrm>
          <a:prstGeom prst="rect">
            <a:avLst/>
          </a:prstGeom>
          <a:solidFill>
            <a:srgbClr val="0F1B2D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0" y="2880360"/>
            <a:ext cx="128016" cy="128016"/>
          </a:xfrm>
          <a:prstGeom prst="ellipse">
            <a:avLst/>
          </a:prstGeom>
          <a:solidFill>
            <a:srgbClr val="E15D5C"/>
          </a:solidFill>
        </p:spPr>
      </p:sp>
      <p:sp>
        <p:nvSpPr>
          <p:cNvPr id="23" name="Shape 20"/>
          <p:cNvSpPr/>
          <p:nvPr/>
        </p:nvSpPr>
        <p:spPr>
          <a:xfrm>
            <a:off x="5687568" y="2880360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24" name="Shape 21"/>
          <p:cNvSpPr/>
          <p:nvPr/>
        </p:nvSpPr>
        <p:spPr>
          <a:xfrm>
            <a:off x="5888736" y="2880360"/>
            <a:ext cx="128016" cy="128016"/>
          </a:xfrm>
          <a:prstGeom prst="ellipse">
            <a:avLst/>
          </a:prstGeom>
          <a:solidFill>
            <a:srgbClr val="3BB273"/>
          </a:solidFill>
        </p:spPr>
      </p:sp>
      <p:sp>
        <p:nvSpPr>
          <p:cNvPr id="25" name="Text 22"/>
          <p:cNvSpPr/>
          <p:nvPr/>
        </p:nvSpPr>
        <p:spPr>
          <a:xfrm>
            <a:off x="6172200" y="28346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run_placing() — Nav2 autonomous transit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532120" y="3200400"/>
            <a:ext cx="6126480" cy="306324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DD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run_placing(self):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bx, by, byaw = self.box_pose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DD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delegate the full transit to Nav2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2A6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ok = self.navigate_to_pose_nav2(bx, by, byaw)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not ok: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self.gripper_set(target='open', power=0.8)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return 'HOMING'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DD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arrived -&gt; drop the ball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self.gripper_set(target='open', power=0.8)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self.chassis_move(-0.5, 0, 0, linear_speed=0.3)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self.chassis_move(0, 0, 180, angular_speed_deg=60)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2A6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'HOMING'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STATE: PLACING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14</a:t>
            </a:r>
            <a:r>
              <a:rPr lang="en-US" sz="1000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 21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616952" y="64465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17 · TENNIS-BOT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ouc"/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-2512060" y="-1130935"/>
            <a:ext cx="12895580" cy="912050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FLOW · 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State 5 — HOMING &amp; Loop Back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228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7" name="Text 5"/>
          <p:cNvSpPr/>
          <p:nvPr/>
        </p:nvSpPr>
        <p:spPr>
          <a:xfrm>
            <a:off x="457200" y="14173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Reset the manipulator to its rest pose, re-open the gripper and clear the detection counters. Once HOMING completes, the state machine flows back to SEARCHING and the next ball is hunted.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6400800" cy="3200400"/>
          </a:xfrm>
          <a:prstGeom prst="rect">
            <a:avLst/>
          </a:prstGeom>
          <a:solidFill>
            <a:srgbClr val="0F1B2D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3063240"/>
            <a:ext cx="128016" cy="128016"/>
          </a:xfrm>
          <a:prstGeom prst="ellipse">
            <a:avLst/>
          </a:prstGeom>
          <a:solidFill>
            <a:srgbClr val="E15D5C"/>
          </a:solidFill>
        </p:spPr>
      </p:sp>
      <p:sp>
        <p:nvSpPr>
          <p:cNvPr id="11" name="Shape 9"/>
          <p:cNvSpPr/>
          <p:nvPr/>
        </p:nvSpPr>
        <p:spPr>
          <a:xfrm>
            <a:off x="795528" y="3063240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12" name="Shape 10"/>
          <p:cNvSpPr/>
          <p:nvPr/>
        </p:nvSpPr>
        <p:spPr>
          <a:xfrm>
            <a:off x="996696" y="3063240"/>
            <a:ext cx="128016" cy="128016"/>
          </a:xfrm>
          <a:prstGeom prst="ellipse">
            <a:avLst/>
          </a:prstGeom>
          <a:solidFill>
            <a:srgbClr val="3BB273"/>
          </a:solidFill>
        </p:spPr>
      </p:sp>
      <p:sp>
        <p:nvSpPr>
          <p:cNvPr id="13" name="Text 11"/>
          <p:cNvSpPr/>
          <p:nvPr/>
        </p:nvSpPr>
        <p:spPr>
          <a:xfrm>
            <a:off x="1280160" y="3017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run_homing() — reset and loop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6126480" cy="260604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DD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run_homing(self):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self.get_logger().info('&gt;&gt;&gt; HOMING')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DD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bring the arm back to rest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self.arm_home()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self.gripper_set(target='open', power=0.8)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DD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clear vision counters for the next cycle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self.detect_count = 0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self.lost_count   = 0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self.get_logger().info('&gt;&gt;&gt; HOMING: done')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2A6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'SEARCHING'   # loop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40880" y="1417320"/>
            <a:ext cx="4663440" cy="3657600"/>
          </a:xfrm>
          <a:prstGeom prst="rect">
            <a:avLst/>
          </a:prstGeom>
          <a:solidFill>
            <a:srgbClr val="000000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pic>
        <p:nvPicPr>
          <p:cNvPr id="16" name="Image 0" descr="/home/claude/assets/state_homin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086600" y="1463040"/>
            <a:ext cx="4572000" cy="35661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040880" y="512064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release: arm retracts to ARM_HOME pose, gripper opens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040880" y="5486400"/>
            <a:ext cx="4663440" cy="914400"/>
          </a:xfrm>
          <a:prstGeom prst="rect">
            <a:avLst/>
          </a:prstGeom>
          <a:solidFill>
            <a:srgbClr val="0E2A4A"/>
          </a:solidFill>
        </p:spPr>
      </p:sp>
      <p:sp>
        <p:nvSpPr>
          <p:cNvPr id="19" name="Shape 16"/>
          <p:cNvSpPr/>
          <p:nvPr/>
        </p:nvSpPr>
        <p:spPr>
          <a:xfrm>
            <a:off x="7040880" y="5486400"/>
            <a:ext cx="73152" cy="91440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20" name="Text 17"/>
          <p:cNvSpPr/>
          <p:nvPr/>
        </p:nvSpPr>
        <p:spPr>
          <a:xfrm>
            <a:off x="7223760" y="5532120"/>
            <a:ext cx="43891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kern="0" spc="3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OPERATION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8D6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HOMING → SEARCHING — the loop repeats until every ball on the court has been collected.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STATE: HOMING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15</a:t>
            </a:r>
            <a:r>
              <a:rPr lang="en-US" sz="1000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 21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616952" y="64465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17 · TENNIS-BOT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ouc"/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-2512060" y="-1130935"/>
            <a:ext cx="12895580" cy="912050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FLOW · 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Continuous Voice Monitoring — Async Safety Layer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228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7" name="Text 5"/>
          <p:cNvSpPr/>
          <p:nvPr/>
        </p:nvSpPr>
        <p:spPr>
          <a:xfrm>
            <a:off x="457200" y="14173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voice-controlled override that runs in parallel with all 5 states. Vosk Chinese ASR listens continuously through the ReSpeaker array; the keyword </a:t>
            </a:r>
            <a:r>
              <a:rPr lang="en-US" sz="1200" b="1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停止</a:t>
            </a:r>
            <a:r>
              <a:rPr lang="en-US" sz="1200" i="1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(pause)</a:t>
            </a:r>
            <a:r>
              <a:rPr lang="en-US" sz="1200" i="1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instantly halts motion and cancels any active Nav2 goal, while </a:t>
            </a:r>
            <a:r>
              <a:rPr lang="en-US" sz="1200" b="1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开始</a:t>
            </a:r>
            <a:r>
              <a:rPr lang="en-US" sz="1200" i="1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(resume) releases the state machine to continue.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ARCHITECTURE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2605405" cy="1362075"/>
          </a:xfrm>
          <a:prstGeom prst="rect">
            <a:avLst/>
          </a:prstGeom>
          <a:solidFill>
            <a:srgbClr val="0E2A4A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310255"/>
            <a:ext cx="25952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5DD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 WORKER PROCESS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259588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ReSpeaker 4-Mic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B6C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sounddevice (float32)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B6C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Vosk (small-cn-0.22)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B6C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keyword match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3745" y="3957828"/>
            <a:ext cx="868680" cy="0"/>
          </a:xfrm>
          <a:prstGeom prst="line">
            <a:avLst/>
          </a:prstGeom>
          <a:noFill/>
          <a:ln w="27940">
            <a:solidFill>
              <a:srgbClr val="00B7C7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062605" y="3664585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7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mp.Queue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08960" y="4022725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'pause' / 'resume'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13250" y="3250565"/>
            <a:ext cx="2444750" cy="1351915"/>
          </a:xfrm>
          <a:prstGeom prst="rect">
            <a:avLst/>
          </a:prstGeom>
          <a:solidFill>
            <a:srgbClr val="00B7C7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34840" y="3310255"/>
            <a:ext cx="237998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0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ROS 2 NODE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403090" y="3611880"/>
            <a:ext cx="245745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VoiceController.dispatcher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0A142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_on_voice_pause()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0A142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· publish zero Twist ×5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0A142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· cancel Nav2 goal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846320"/>
            <a:ext cx="6402705" cy="1354455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20" name="Shape 18"/>
          <p:cNvSpPr/>
          <p:nvPr/>
        </p:nvSpPr>
        <p:spPr>
          <a:xfrm>
            <a:off x="457200" y="4846320"/>
            <a:ext cx="73152" cy="137160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21" name="Text 19"/>
          <p:cNvSpPr/>
          <p:nvPr/>
        </p:nvSpPr>
        <p:spPr>
          <a:xfrm>
            <a:off x="640080" y="493776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EFFECT ON THE STATE MACHINE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5212080"/>
            <a:ext cx="59105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2445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Every motion routine calls </a:t>
            </a:r>
            <a:r>
              <a:rPr lang="en-US" sz="1050" b="1" dirty="0">
                <a:solidFill>
                  <a:srgbClr val="0E2A4A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_wait_if_paused()</a:t>
            </a:r>
            <a:r>
              <a:rPr lang="en-US" sz="1050" dirty="0">
                <a:solidFill>
                  <a:srgbClr val="32445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 on entry — if a pause flag is set, the routine spins on a 100 ms idle until </a:t>
            </a:r>
            <a:r>
              <a:rPr lang="en-US" sz="1050" b="1" dirty="0">
                <a:solidFill>
                  <a:srgbClr val="0E2A4A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_pause_event</a:t>
            </a:r>
            <a:r>
              <a:rPr lang="en-US" sz="1050" dirty="0">
                <a:solidFill>
                  <a:srgbClr val="32445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 is cleared. Result: every one of SEARCHING / ROTATING / GRABBING / PLACING / HOMING can be paused and resumed safely at any moment without breaking the loop.</a:t>
            </a:r>
            <a:endParaRPr lang="en-US" sz="10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4" name="Image 0" descr="/home/claude/assets/voice_termin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101205" y="1771650"/>
            <a:ext cx="4957445" cy="374586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5" name="Text 22"/>
          <p:cNvSpPr/>
          <p:nvPr/>
        </p:nvSpPr>
        <p:spPr>
          <a:xfrm>
            <a:off x="7522845" y="5751195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terminal — Vosk hits '停止' → [PAUSE], then '开始' → [RESUME]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 MONITORING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16</a:t>
            </a:r>
            <a:r>
              <a:rPr lang="en-US" sz="1000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 21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616952" y="64465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17 · TENNIS-BOT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ouc"/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-2512060" y="-1130935"/>
            <a:ext cx="12895580" cy="912050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FLOW · 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Voice Monitoring — Code Excerpt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228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7" name="Text 5"/>
          <p:cNvSpPr/>
          <p:nvPr/>
        </p:nvSpPr>
        <p:spPr>
          <a:xfrm>
            <a:off x="457200" y="14173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CALLBACKS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callbacks bridge the voice subprocess and the state machine; one method blocks any state when paused.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5760720" cy="3657600"/>
          </a:xfrm>
          <a:prstGeom prst="rect">
            <a:avLst/>
          </a:prstGeom>
          <a:solidFill>
            <a:srgbClr val="0F1B2D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331720"/>
            <a:ext cx="128016" cy="128016"/>
          </a:xfrm>
          <a:prstGeom prst="ellipse">
            <a:avLst/>
          </a:prstGeom>
          <a:solidFill>
            <a:srgbClr val="E15D5C"/>
          </a:solidFill>
        </p:spPr>
      </p:sp>
      <p:sp>
        <p:nvSpPr>
          <p:cNvPr id="11" name="Shape 9"/>
          <p:cNvSpPr/>
          <p:nvPr/>
        </p:nvSpPr>
        <p:spPr>
          <a:xfrm>
            <a:off x="795528" y="2331720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12" name="Shape 10"/>
          <p:cNvSpPr/>
          <p:nvPr/>
        </p:nvSpPr>
        <p:spPr>
          <a:xfrm>
            <a:off x="996696" y="2331720"/>
            <a:ext cx="128016" cy="128016"/>
          </a:xfrm>
          <a:prstGeom prst="ellipse">
            <a:avLst/>
          </a:prstGeom>
          <a:solidFill>
            <a:srgbClr val="3BB273"/>
          </a:solidFill>
        </p:spPr>
      </p:sp>
      <p:sp>
        <p:nvSpPr>
          <p:cNvPr id="13" name="Text 11"/>
          <p:cNvSpPr/>
          <p:nvPr/>
        </p:nvSpPr>
        <p:spPr>
          <a:xfrm>
            <a:off x="1280160" y="2286000"/>
            <a:ext cx="4846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voice ←→ state-machine callbacks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651760"/>
            <a:ext cx="5486400" cy="306324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DD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_on_voice_pause(self):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self._pause_event.is_set():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2A6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return        # idempotent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self.get_logger().warn(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'&gt;&gt;&gt; [PAUSE] voice trigger')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self._pause_event.set()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DD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1) zero-velocity stop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stop = Twist()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_ in range(5):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self.cmd_vel_pub.publish(stop)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DD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2) cancel active Nav2 goal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h = self._current_nav_handle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h is not None: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2A6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h.cancel_goal_async()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DD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_on_voice_resume(self):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self._pause_event.clear()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55080" y="2194560"/>
            <a:ext cx="5349240" cy="3657600"/>
          </a:xfrm>
          <a:prstGeom prst="rect">
            <a:avLst/>
          </a:prstGeom>
          <a:solidFill>
            <a:srgbClr val="0F1B2D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2331720"/>
            <a:ext cx="128016" cy="128016"/>
          </a:xfrm>
          <a:prstGeom prst="ellipse">
            <a:avLst/>
          </a:prstGeom>
          <a:solidFill>
            <a:srgbClr val="E15D5C"/>
          </a:solidFill>
        </p:spPr>
      </p:sp>
      <p:sp>
        <p:nvSpPr>
          <p:cNvPr id="17" name="Shape 15"/>
          <p:cNvSpPr/>
          <p:nvPr/>
        </p:nvSpPr>
        <p:spPr>
          <a:xfrm>
            <a:off x="6693408" y="2331720"/>
            <a:ext cx="128016" cy="128016"/>
          </a:xfrm>
          <a:prstGeom prst="ellipse">
            <a:avLst/>
          </a:prstGeom>
          <a:solidFill>
            <a:srgbClr val="F2A65A"/>
          </a:solidFill>
        </p:spPr>
      </p:sp>
      <p:sp>
        <p:nvSpPr>
          <p:cNvPr id="18" name="Shape 16"/>
          <p:cNvSpPr/>
          <p:nvPr/>
        </p:nvSpPr>
        <p:spPr>
          <a:xfrm>
            <a:off x="6894576" y="2331720"/>
            <a:ext cx="128016" cy="128016"/>
          </a:xfrm>
          <a:prstGeom prst="ellipse">
            <a:avLst/>
          </a:prstGeom>
          <a:solidFill>
            <a:srgbClr val="3BB273"/>
          </a:solidFill>
        </p:spPr>
      </p:sp>
      <p:sp>
        <p:nvSpPr>
          <p:cNvPr id="19" name="Text 17"/>
          <p:cNvSpPr/>
          <p:nvPr/>
        </p:nvSpPr>
        <p:spPr>
          <a:xfrm>
            <a:off x="7178040" y="2286000"/>
            <a:ext cx="4434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blocking gate used by every motion routine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37960" y="2651760"/>
            <a:ext cx="5074920" cy="306324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DD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_wait_if_paused(self, log_tag=''):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not self._pause_event.is_set():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return False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self.get_logger().info(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f'&gt;&gt;&gt; [PAUSE] {log_tag}...')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DD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idle until '开始' clears flag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 (self._pause_event.is_set()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and self.running and rclpy.ok()):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time.sleep(0.1)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self.get_logger().info(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'&gt;&gt;&gt; [RESUME] continuing')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2A6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True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DD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Vosk grammar (small-cn-0.22)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PAUSE_WORDS  = {'停','停下','停止'}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RESUME_WORDS = {'开始','继续','走'}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5989320"/>
            <a:ext cx="3666744" cy="365760"/>
          </a:xfrm>
          <a:prstGeom prst="rect">
            <a:avLst/>
          </a:prstGeom>
          <a:solidFill>
            <a:srgbClr val="0E2A4A"/>
          </a:solidFill>
        </p:spPr>
      </p:sp>
      <p:sp>
        <p:nvSpPr>
          <p:cNvPr id="22" name="Text 20"/>
          <p:cNvSpPr/>
          <p:nvPr/>
        </p:nvSpPr>
        <p:spPr>
          <a:xfrm>
            <a:off x="640080" y="5989320"/>
            <a:ext cx="33924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Always-on</a:t>
            </a:r>
            <a:r>
              <a:rPr lang="en-US" sz="950" dirty="0">
                <a:solidFill>
                  <a:srgbClr val="C8D6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Listens through every state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61104" y="5989320"/>
            <a:ext cx="3666744" cy="365760"/>
          </a:xfrm>
          <a:prstGeom prst="rect">
            <a:avLst/>
          </a:prstGeom>
          <a:solidFill>
            <a:srgbClr val="0E2A4A"/>
          </a:solidFill>
        </p:spPr>
      </p:sp>
      <p:sp>
        <p:nvSpPr>
          <p:cNvPr id="24" name="Text 22"/>
          <p:cNvSpPr/>
          <p:nvPr/>
        </p:nvSpPr>
        <p:spPr>
          <a:xfrm>
            <a:off x="4443984" y="5989320"/>
            <a:ext cx="33924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 cut-off</a:t>
            </a:r>
            <a:r>
              <a:rPr lang="en-US" sz="950" dirty="0">
                <a:solidFill>
                  <a:srgbClr val="C8D6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0-Twist × 5 + Nav2 cancel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65008" y="5989320"/>
            <a:ext cx="3666744" cy="365760"/>
          </a:xfrm>
          <a:prstGeom prst="rect">
            <a:avLst/>
          </a:prstGeom>
          <a:solidFill>
            <a:srgbClr val="0E2A4A"/>
          </a:solidFill>
        </p:spPr>
      </p:sp>
      <p:sp>
        <p:nvSpPr>
          <p:cNvPr id="26" name="Text 24"/>
          <p:cNvSpPr/>
          <p:nvPr/>
        </p:nvSpPr>
        <p:spPr>
          <a:xfrm>
            <a:off x="8247888" y="5989320"/>
            <a:ext cx="33924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 loop</a:t>
            </a:r>
            <a:r>
              <a:rPr lang="en-US" sz="950" dirty="0">
                <a:solidFill>
                  <a:srgbClr val="C8D6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Resumes where it paused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 MONITORING · CODE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17</a:t>
            </a:r>
            <a:r>
              <a:rPr lang="en-US" sz="1000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 21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16952" y="64465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17 · TENNIS-BOT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2"/>
          <p:cNvSpPr/>
          <p:nvPr/>
        </p:nvSpPr>
        <p:spPr>
          <a:xfrm>
            <a:off x="0" y="1275715"/>
            <a:ext cx="12192000" cy="292735"/>
          </a:xfrm>
          <a:prstGeom prst="rect">
            <a:avLst/>
          </a:prstGeom>
          <a:solidFill>
            <a:srgbClr val="00B7C7"/>
          </a:solidFill>
        </p:spPr>
      </p:sp>
      <p:pic>
        <p:nvPicPr>
          <p:cNvPr id="50" name="图片 49" descr="ouc"/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-367030" y="-1131570"/>
            <a:ext cx="12895580" cy="912050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INTERFACE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Interaction Design — Operator Console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228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7" name="Text 5"/>
          <p:cNvSpPr/>
          <p:nvPr/>
        </p:nvSpPr>
        <p:spPr>
          <a:xfrm>
            <a:off x="457200" y="118872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space reserved for the teammate-owned UI section: how an operator monitors, configures and steers the robot from a single screen.</a:t>
            </a:r>
            <a:endParaRPr lang="en-US" sz="1200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2"/>
            </p:custDataLst>
          </p:nvPr>
        </p:nvSpPr>
        <p:spPr>
          <a:xfrm>
            <a:off x="313690" y="1991995"/>
            <a:ext cx="5627370" cy="3323590"/>
          </a:xfrm>
          <a:prstGeom prst="rect">
            <a:avLst/>
          </a:prstGeom>
          <a:solidFill>
            <a:srgbClr val="F3F6FA"/>
          </a:solidFill>
          <a:ln w="12700">
            <a:solidFill>
              <a:srgbClr val="D6DEE7"/>
            </a:solidFill>
            <a:prstDash val="dash"/>
          </a:ln>
        </p:spPr>
      </p:sp>
      <p:sp>
        <p:nvSpPr>
          <p:cNvPr id="9" name="Shape 7"/>
          <p:cNvSpPr/>
          <p:nvPr>
            <p:custDataLst>
              <p:tags r:id="rId3"/>
            </p:custDataLst>
          </p:nvPr>
        </p:nvSpPr>
        <p:spPr>
          <a:xfrm>
            <a:off x="334645" y="1966595"/>
            <a:ext cx="5601970" cy="319405"/>
          </a:xfrm>
          <a:prstGeom prst="rect">
            <a:avLst/>
          </a:prstGeom>
          <a:solidFill>
            <a:srgbClr val="0E2A4A"/>
          </a:solidFill>
          <a:ln>
            <a:solidFill>
              <a:schemeClr val="accent5">
                <a:lumMod val="75000"/>
              </a:schemeClr>
            </a:solidFill>
          </a:ln>
        </p:spPr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313690" y="1976120"/>
            <a:ext cx="562229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· LIVE VIEW</a:t>
            </a:r>
            <a:endParaRPr lang="en-US" sz="1100" dirty="0"/>
          </a:p>
        </p:txBody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457200" y="3474720"/>
            <a:ext cx="360578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1202055" y="1668145"/>
            <a:ext cx="3679190" cy="298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b="1" i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Camera feed + YOLOv5 overlay, state badge and ToF distance bar.</a:t>
            </a:r>
            <a:endParaRPr lang="en-US" sz="1050" b="1" i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6185535" y="1974215"/>
            <a:ext cx="5520055" cy="3317240"/>
          </a:xfrm>
          <a:prstGeom prst="rect">
            <a:avLst/>
          </a:prstGeom>
          <a:solidFill>
            <a:srgbClr val="F3F6FA"/>
          </a:solidFill>
          <a:ln w="12700">
            <a:solidFill>
              <a:srgbClr val="D6DEE7"/>
            </a:solidFill>
            <a:prstDash val="dash"/>
          </a:ln>
        </p:spPr>
        <p:txBody>
          <a:bodyPr/>
          <a:p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8"/>
            </p:custDataLst>
          </p:nvPr>
        </p:nvGrpSpPr>
        <p:grpSpPr>
          <a:xfrm>
            <a:off x="6187604" y="1966595"/>
            <a:ext cx="5562401" cy="1828800"/>
            <a:chOff x="6705" y="3312"/>
            <a:chExt cx="5750" cy="2880"/>
          </a:xfrm>
        </p:grpSpPr>
        <p:sp>
          <p:nvSpPr>
            <p:cNvPr id="14" name="Shape 12"/>
            <p:cNvSpPr/>
            <p:nvPr>
              <p:custDataLst>
                <p:tags r:id="rId9"/>
              </p:custDataLst>
            </p:nvPr>
          </p:nvSpPr>
          <p:spPr>
            <a:xfrm>
              <a:off x="6705" y="3312"/>
              <a:ext cx="5750" cy="498"/>
            </a:xfrm>
            <a:prstGeom prst="rect">
              <a:avLst/>
            </a:prstGeom>
            <a:solidFill>
              <a:srgbClr val="0E2A4A"/>
            </a:solidFill>
          </p:spPr>
        </p:sp>
        <p:sp>
          <p:nvSpPr>
            <p:cNvPr id="15" name="Text 13"/>
            <p:cNvSpPr/>
            <p:nvPr>
              <p:custDataLst>
                <p:tags r:id="rId10"/>
              </p:custDataLst>
            </p:nvPr>
          </p:nvSpPr>
          <p:spPr>
            <a:xfrm>
              <a:off x="7046" y="3312"/>
              <a:ext cx="5390" cy="5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kern="0" spc="3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02 · MAP &amp; NAV</a:t>
              </a:r>
              <a:endParaRPr lang="en-US" sz="1100" dirty="0"/>
            </a:p>
          </p:txBody>
        </p:sp>
        <p:sp>
          <p:nvSpPr>
            <p:cNvPr id="16" name="Text 14"/>
            <p:cNvSpPr/>
            <p:nvPr>
              <p:custDataLst>
                <p:tags r:id="rId11"/>
              </p:custDataLst>
            </p:nvPr>
          </p:nvSpPr>
          <p:spPr>
            <a:xfrm>
              <a:off x="6758" y="5472"/>
              <a:ext cx="5678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300" dirty="0"/>
            </a:p>
          </p:txBody>
        </p:sp>
      </p:grp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6187440" y="1674495"/>
            <a:ext cx="5533390" cy="290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b="1" i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AMCL pose on tennis_field map; bin and goal markers.</a:t>
            </a:r>
            <a:endParaRPr lang="en-US" sz="1050" b="1" i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73355" y="66014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18</a:t>
            </a:r>
            <a:r>
              <a:rPr lang="en-US" sz="1000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 21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16952" y="64465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17 · TENNIS-BOT</a:t>
            </a:r>
            <a:endParaRPr lang="en-US" sz="800" dirty="0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299200" y="2319655"/>
            <a:ext cx="5339080" cy="291846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457200" y="2321560"/>
            <a:ext cx="5332730" cy="2920365"/>
          </a:xfrm>
          <a:prstGeom prst="rect">
            <a:avLst/>
          </a:prstGeom>
        </p:spPr>
      </p:pic>
      <p:grpSp>
        <p:nvGrpSpPr>
          <p:cNvPr id="34" name="组合 33"/>
          <p:cNvGrpSpPr/>
          <p:nvPr>
            <p:custDataLst>
              <p:tags r:id="rId17"/>
            </p:custDataLst>
          </p:nvPr>
        </p:nvGrpSpPr>
        <p:grpSpPr>
          <a:xfrm>
            <a:off x="313055" y="5397500"/>
            <a:ext cx="5606415" cy="1045845"/>
            <a:chOff x="493" y="8500"/>
            <a:chExt cx="8829" cy="1647"/>
          </a:xfrm>
        </p:grpSpPr>
        <p:sp>
          <p:nvSpPr>
            <p:cNvPr id="32" name="Shape 17"/>
            <p:cNvSpPr/>
            <p:nvPr>
              <p:custDataLst>
                <p:tags r:id="rId18"/>
              </p:custDataLst>
            </p:nvPr>
          </p:nvSpPr>
          <p:spPr>
            <a:xfrm>
              <a:off x="494" y="8500"/>
              <a:ext cx="8828" cy="1647"/>
            </a:xfrm>
            <a:prstGeom prst="rect">
              <a:avLst/>
            </a:prstGeom>
            <a:solidFill>
              <a:srgbClr val="F3F6FA"/>
            </a:solidFill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txBody>
            <a:bodyPr/>
            <a:p>
              <a:pPr algn="l"/>
              <a:r>
                <a:rPr lang="en-US" altLang="zh-CN" sz="1600" i="1">
                  <a:solidFill>
                    <a:schemeClr val="bg2">
                      <a:lumMod val="25000"/>
                    </a:schemeClr>
                  </a:solidFill>
                  <a:sym typeface="+mn-ea"/>
                </a:rPr>
                <a:t>Automatic ball-collecting robot console, with the left side displaying the real-time field map and ball position markers, and the right side integrating voice control, line-following mapping, system log recording, and field boundary scanning status.</a:t>
              </a:r>
              <a:endParaRPr lang="en-US" altLang="zh-CN" sz="1600" i="1">
                <a:solidFill>
                  <a:schemeClr val="bg2">
                    <a:lumMod val="25000"/>
                  </a:schemeClr>
                </a:solidFill>
                <a:sym typeface="+mn-ea"/>
              </a:endParaRPr>
            </a:p>
          </p:txBody>
        </p:sp>
        <p:sp>
          <p:nvSpPr>
            <p:cNvPr id="33" name="Shape 18"/>
            <p:cNvSpPr/>
            <p:nvPr>
              <p:custDataLst>
                <p:tags r:id="rId19"/>
              </p:custDataLst>
            </p:nvPr>
          </p:nvSpPr>
          <p:spPr>
            <a:xfrm flipH="1">
              <a:off x="493" y="8500"/>
              <a:ext cx="121" cy="1633"/>
            </a:xfrm>
            <a:prstGeom prst="rect">
              <a:avLst/>
            </a:prstGeom>
            <a:solidFill>
              <a:srgbClr val="00B7C7"/>
            </a:solidFill>
          </p:spPr>
          <p:txBody>
            <a:bodyPr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>
            <p:custDataLst>
              <p:tags r:id="rId20"/>
            </p:custDataLst>
          </p:nvPr>
        </p:nvGrpSpPr>
        <p:grpSpPr>
          <a:xfrm>
            <a:off x="6291580" y="5394325"/>
            <a:ext cx="5605780" cy="1052195"/>
            <a:chOff x="528" y="8566"/>
            <a:chExt cx="8828" cy="1657"/>
          </a:xfrm>
        </p:grpSpPr>
        <p:sp>
          <p:nvSpPr>
            <p:cNvPr id="36" name="Shape 17"/>
            <p:cNvSpPr/>
            <p:nvPr>
              <p:custDataLst>
                <p:tags r:id="rId21"/>
              </p:custDataLst>
            </p:nvPr>
          </p:nvSpPr>
          <p:spPr>
            <a:xfrm>
              <a:off x="528" y="8567"/>
              <a:ext cx="8828" cy="1655"/>
            </a:xfrm>
            <a:prstGeom prst="rect">
              <a:avLst/>
            </a:prstGeom>
            <a:solidFill>
              <a:srgbClr val="F3F6FA"/>
            </a:solidFill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txBody>
            <a:bodyPr/>
            <a:p>
              <a:pPr algn="l"/>
              <a:r>
                <a:rPr lang="en-US" altLang="zh-CN" sz="1600" i="1">
                  <a:solidFill>
                    <a:schemeClr val="bg2">
                      <a:lumMod val="25000"/>
                    </a:schemeClr>
                  </a:solidFill>
                  <a:sym typeface="+mn-ea"/>
                </a:rPr>
                <a:t>Robot vision ball-picking interface, displaying the field scene and ball detection boxes in real time, with system logs updating continuously, and feedback on running speed and battery temperature at the bottom.</a:t>
              </a:r>
              <a:endParaRPr lang="en-US" altLang="zh-CN" sz="1600" i="1">
                <a:solidFill>
                  <a:schemeClr val="bg2">
                    <a:lumMod val="25000"/>
                  </a:schemeClr>
                </a:solidFill>
                <a:sym typeface="+mn-ea"/>
              </a:endParaRPr>
            </a:p>
          </p:txBody>
        </p:sp>
        <p:sp>
          <p:nvSpPr>
            <p:cNvPr id="37" name="Shape 18"/>
            <p:cNvSpPr/>
            <p:nvPr>
              <p:custDataLst>
                <p:tags r:id="rId22"/>
              </p:custDataLst>
            </p:nvPr>
          </p:nvSpPr>
          <p:spPr>
            <a:xfrm>
              <a:off x="528" y="8566"/>
              <a:ext cx="120" cy="1657"/>
            </a:xfrm>
            <a:prstGeom prst="rect">
              <a:avLst/>
            </a:prstGeom>
            <a:solidFill>
              <a:srgbClr val="00B7C7"/>
            </a:solidFill>
          </p:spPr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 descr="ouc"/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-2512060" y="-1130935"/>
            <a:ext cx="12895580" cy="912050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HIGHLIGHTS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Project Highlights &amp; Design Innovations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228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7" name="Text 5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sets Tennis-Bot apart from a textbook pick-and-place demo — design choices that pay off in the field.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703320" cy="210312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9" name="Shape 7"/>
          <p:cNvSpPr/>
          <p:nvPr/>
        </p:nvSpPr>
        <p:spPr>
          <a:xfrm>
            <a:off x="457200" y="1920240"/>
            <a:ext cx="73152" cy="210312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10" name="Text 8"/>
          <p:cNvSpPr/>
          <p:nvPr/>
        </p:nvSpPr>
        <p:spPr>
          <a:xfrm>
            <a:off x="685800" y="2057400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Closed-Loop Vision-to-Grasp Servo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834640"/>
            <a:ext cx="33375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bounding-box feedback drives both yaw alignment (ROTATING) and forward approach (GRABBING), with adaptive damping that suppresses oscillation on sign flip.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3657600"/>
            <a:ext cx="32461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65760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tolerance ≤ ROTATE_TOLERANCE_PX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25112" y="1920240"/>
            <a:ext cx="3703320" cy="210312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16" name="Shape 14"/>
          <p:cNvSpPr/>
          <p:nvPr/>
        </p:nvSpPr>
        <p:spPr>
          <a:xfrm>
            <a:off x="4325112" y="1920240"/>
            <a:ext cx="73152" cy="210312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17" name="Text 15"/>
          <p:cNvSpPr/>
          <p:nvPr/>
        </p:nvSpPr>
        <p:spPr>
          <a:xfrm>
            <a:off x="4553712" y="2057400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53712" y="228600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Nav2-Delegated Long-Range Transit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53712" y="2834640"/>
            <a:ext cx="33375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Replaced open-loop trajectories with the official Nav2 NavigateToPose action — global A* planning + DWB local control + AMCL localization on the saved tennis_field map.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53712" y="3657600"/>
            <a:ext cx="32461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3712" y="365760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A* / Dijkstra + DWB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193024" y="1920240"/>
            <a:ext cx="3703320" cy="210312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23" name="Shape 21"/>
          <p:cNvSpPr/>
          <p:nvPr/>
        </p:nvSpPr>
        <p:spPr>
          <a:xfrm>
            <a:off x="8193024" y="1920240"/>
            <a:ext cx="73152" cy="210312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24" name="Text 22"/>
          <p:cNvSpPr/>
          <p:nvPr/>
        </p:nvSpPr>
        <p:spPr>
          <a:xfrm>
            <a:off x="8421624" y="2057400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421624" y="228600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Multi-Target Nearest-First Selection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21624" y="2834640"/>
            <a:ext cx="33375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several balls are detected simultaneously, the policy picks the largest bounding-box (≈ closest in 3-D) to minimize travel distance and avoid hunting between targets.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421624" y="3657600"/>
            <a:ext cx="32461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21624" y="365760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bbox-area ranking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187952"/>
            <a:ext cx="3703320" cy="210312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30" name="Shape 28"/>
          <p:cNvSpPr/>
          <p:nvPr/>
        </p:nvSpPr>
        <p:spPr>
          <a:xfrm>
            <a:off x="457200" y="4187952"/>
            <a:ext cx="73152" cy="210312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1" name="Text 29"/>
          <p:cNvSpPr/>
          <p:nvPr/>
        </p:nvSpPr>
        <p:spPr>
          <a:xfrm>
            <a:off x="685800" y="4325112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85800" y="4553712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Continuous Voice Override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" y="5102352"/>
            <a:ext cx="33375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Vosk Chinese ASR in an isolated subprocess provides a true async safety channel — '停止' instantly cancels Nav2 goals &amp; zeros /cmd_vel, '开始' resumes the exact same state.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" y="5925312"/>
            <a:ext cx="32461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92531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停止 ⇄ 开始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25112" y="4187952"/>
            <a:ext cx="3703320" cy="210312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37" name="Shape 35"/>
          <p:cNvSpPr/>
          <p:nvPr/>
        </p:nvSpPr>
        <p:spPr>
          <a:xfrm>
            <a:off x="4325112" y="4187952"/>
            <a:ext cx="73152" cy="210312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8" name="Text 36"/>
          <p:cNvSpPr/>
          <p:nvPr/>
        </p:nvSpPr>
        <p:spPr>
          <a:xfrm>
            <a:off x="4553712" y="4325112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53712" y="4553712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Heterogeneous Sensor Fusion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53712" y="5102352"/>
            <a:ext cx="33375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YOLOv5 vision + ToF IR proximity + 2D LiDAR + wheel odom + IMU are fused through an EKF and a state machine, each sensor only triggering the state that needs it.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53712" y="5925312"/>
            <a:ext cx="32461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53712" y="592531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 modalities · 1 EKF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193024" y="4187952"/>
            <a:ext cx="3703320" cy="2103120"/>
          </a:xfrm>
          <a:prstGeom prst="rect">
            <a:avLst/>
          </a:prstGeom>
          <a:solidFill>
            <a:srgbClr val="F3F6FA"/>
          </a:solidFill>
        </p:spPr>
      </p:sp>
      <p:sp>
        <p:nvSpPr>
          <p:cNvPr id="44" name="Shape 42"/>
          <p:cNvSpPr/>
          <p:nvPr/>
        </p:nvSpPr>
        <p:spPr>
          <a:xfrm>
            <a:off x="8193024" y="4187952"/>
            <a:ext cx="73152" cy="210312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45" name="Text 43"/>
          <p:cNvSpPr/>
          <p:nvPr/>
        </p:nvSpPr>
        <p:spPr>
          <a:xfrm>
            <a:off x="8421624" y="4325112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421624" y="4553712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On-Device Edge Compute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421624" y="5102352"/>
            <a:ext cx="33375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perception, planning, ASR, and control run locally on a single Jetson Orin NX — no off-board GPU, no cloud, no network round-trips during a match.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421624" y="5925312"/>
            <a:ext cx="32461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21624" y="592531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100% on-device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HIGHLIGHTS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19</a:t>
            </a:r>
            <a:r>
              <a:rPr lang="en-US" sz="1000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 21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616952" y="64465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17 · TENNIS-BOT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图片 68" descr="ouc"/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-2512060" y="-1130935"/>
            <a:ext cx="12895580" cy="912050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Project Team &amp; Responsibilities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2286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7" name="Text 5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balanced four-person team — each member owns one end-to-end module from algorithm design through code, hardware bring-up and field testing.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2681478" cy="4023360"/>
          </a:xfrm>
          <a:prstGeom prst="rect">
            <a:avLst/>
          </a:prstGeom>
          <a:solidFill>
            <a:srgbClr val="F3F6FA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  <p:txBody>
          <a:bodyPr/>
          <a:p>
            <a:r>
              <a:rPr lang="en-US" altLang="zh-CN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ROS 2 environment configuration on Jetson Orin NX</a:t>
            </a:r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2681478" cy="960120"/>
          </a:xfrm>
          <a:prstGeom prst="rect">
            <a:avLst/>
          </a:prstGeom>
          <a:solidFill>
            <a:srgbClr val="0E2A4A"/>
          </a:solidFill>
        </p:spPr>
      </p:sp>
      <p:sp>
        <p:nvSpPr>
          <p:cNvPr id="10" name="Text 8"/>
          <p:cNvSpPr/>
          <p:nvPr/>
        </p:nvSpPr>
        <p:spPr>
          <a:xfrm>
            <a:off x="640080" y="2075688"/>
            <a:ext cx="240715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240715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Yanshan Wang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624328"/>
            <a:ext cx="240715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00" i="1" dirty="0">
                <a:solidFill>
                  <a:srgbClr val="5DD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 &amp; Perception Lead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24071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RESPONSIBILITIES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58368" y="3401568"/>
            <a:ext cx="73152" cy="73152"/>
          </a:xfrm>
          <a:prstGeom prst="ellipse">
            <a:avLst/>
          </a:prstGeom>
          <a:solidFill>
            <a:srgbClr val="00B7C7"/>
          </a:solidFill>
        </p:spPr>
      </p:sp>
      <p:sp>
        <p:nvSpPr>
          <p:cNvPr id="15" name="Text 13"/>
          <p:cNvSpPr/>
          <p:nvPr/>
        </p:nvSpPr>
        <p:spPr>
          <a:xfrm>
            <a:off x="804545" y="3337560"/>
            <a:ext cx="2224405" cy="455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zh-CN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framework and control flow design — defined the five-state machine 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9003" y="3977513"/>
            <a:ext cx="73152" cy="73152"/>
          </a:xfrm>
          <a:prstGeom prst="ellipse">
            <a:avLst/>
          </a:prstGeom>
          <a:solidFill>
            <a:srgbClr val="00B7C7"/>
          </a:solidFill>
        </p:spPr>
      </p:sp>
      <p:sp>
        <p:nvSpPr>
          <p:cNvPr id="17" name="Text 15"/>
          <p:cNvSpPr/>
          <p:nvPr/>
        </p:nvSpPr>
        <p:spPr>
          <a:xfrm>
            <a:off x="804672" y="3928110"/>
            <a:ext cx="222427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zh-CN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YOLOv5 tennis-ball detector training, fine-tuning, and Jetson Orin NX deployment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9003" y="4636008"/>
            <a:ext cx="73152" cy="73152"/>
          </a:xfrm>
          <a:prstGeom prst="ellipse">
            <a:avLst/>
          </a:prstGeom>
          <a:solidFill>
            <a:srgbClr val="00B7C7"/>
          </a:solidFill>
        </p:spPr>
        <p:txBody>
          <a:bodyPr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04545" y="4568190"/>
            <a:ext cx="2329815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zh-CN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Vision pipeline and nearest-ball selection policy — OpenCV HUD overlay, frame I/O, bounding-box ranking, detection-confirm</a:t>
            </a:r>
            <a:r>
              <a:rPr lang="en-US" altLang="zh-CN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</a:t>
            </a:r>
            <a:r>
              <a:rPr lang="en-US" altLang="zh-CN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9003" y="5349113"/>
            <a:ext cx="73152" cy="73152"/>
          </a:xfrm>
          <a:prstGeom prst="ellipse">
            <a:avLst/>
          </a:prstGeom>
          <a:solidFill>
            <a:srgbClr val="00B7C7"/>
          </a:solidFill>
        </p:spPr>
      </p:sp>
      <p:sp>
        <p:nvSpPr>
          <p:cNvPr id="21" name="Text 19"/>
          <p:cNvSpPr/>
          <p:nvPr/>
        </p:nvSpPr>
        <p:spPr>
          <a:xfrm>
            <a:off x="804672" y="5394960"/>
            <a:ext cx="222427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21558" y="1965960"/>
            <a:ext cx="2681478" cy="4023360"/>
          </a:xfrm>
          <a:prstGeom prst="rect">
            <a:avLst/>
          </a:prstGeom>
          <a:solidFill>
            <a:srgbClr val="F3F6FA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21558" y="1965960"/>
            <a:ext cx="2681478" cy="960120"/>
          </a:xfrm>
          <a:prstGeom prst="rect">
            <a:avLst/>
          </a:prstGeom>
          <a:solidFill>
            <a:srgbClr val="0E2A4A"/>
          </a:solidFill>
        </p:spPr>
      </p:sp>
      <p:sp>
        <p:nvSpPr>
          <p:cNvPr id="24" name="Text 22"/>
          <p:cNvSpPr/>
          <p:nvPr/>
        </p:nvSpPr>
        <p:spPr>
          <a:xfrm>
            <a:off x="3504438" y="2075688"/>
            <a:ext cx="240715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504438" y="2286000"/>
            <a:ext cx="240715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Wenxin Xiao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504438" y="2624328"/>
            <a:ext cx="240715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00" i="1" dirty="0">
                <a:solidFill>
                  <a:srgbClr val="5DD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Mapping &amp; Navigation Lead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04438" y="3063240"/>
            <a:ext cx="24071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RESPONSIBILITIES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504311" y="3401568"/>
            <a:ext cx="73152" cy="73152"/>
          </a:xfrm>
          <a:prstGeom prst="ellipse">
            <a:avLst/>
          </a:prstGeom>
          <a:solidFill>
            <a:srgbClr val="00B7C7"/>
          </a:solidFill>
        </p:spPr>
      </p:sp>
      <p:sp>
        <p:nvSpPr>
          <p:cNvPr id="29" name="Text 27"/>
          <p:cNvSpPr/>
          <p:nvPr/>
        </p:nvSpPr>
        <p:spPr>
          <a:xfrm>
            <a:off x="3669030" y="3337560"/>
            <a:ext cx="222427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zh-CN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SLAM environment setup — YDLidar X3 driver, slam_toolbox, EKF (robot_localization), TF tree configuration</a:t>
            </a:r>
            <a:endParaRPr lang="en-US" altLang="zh-CN" sz="950" dirty="0">
              <a:solidFill>
                <a:srgbClr val="32445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504311" y="4050538"/>
            <a:ext cx="73152" cy="73152"/>
          </a:xfrm>
          <a:prstGeom prst="ellipse">
            <a:avLst/>
          </a:prstGeom>
          <a:solidFill>
            <a:srgbClr val="00B7C7"/>
          </a:solidFill>
        </p:spPr>
      </p:sp>
      <p:sp>
        <p:nvSpPr>
          <p:cNvPr id="31" name="Text 29"/>
          <p:cNvSpPr/>
          <p:nvPr/>
        </p:nvSpPr>
        <p:spPr>
          <a:xfrm>
            <a:off x="3669030" y="3996055"/>
            <a:ext cx="2224405" cy="3917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Nav2 stack configuration (planner, DWB, costmap, AMCL)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504311" y="4636008"/>
            <a:ext cx="73152" cy="73152"/>
          </a:xfrm>
          <a:prstGeom prst="ellipse">
            <a:avLst/>
          </a:prstGeom>
          <a:solidFill>
            <a:srgbClr val="00B7C7"/>
          </a:solidFill>
        </p:spPr>
      </p:sp>
      <p:sp>
        <p:nvSpPr>
          <p:cNvPr id="33" name="Text 31"/>
          <p:cNvSpPr/>
          <p:nvPr/>
        </p:nvSpPr>
        <p:spPr>
          <a:xfrm>
            <a:off x="3669030" y="4568190"/>
            <a:ext cx="222427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PLACING state — NavigateToPose action client integration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504311" y="5180838"/>
            <a:ext cx="73152" cy="73152"/>
          </a:xfrm>
          <a:prstGeom prst="ellipse">
            <a:avLst/>
          </a:prstGeom>
          <a:solidFill>
            <a:srgbClr val="00B7C7"/>
          </a:solidFill>
        </p:spPr>
        <p:txBody>
          <a:bodyPr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3669030" y="5106670"/>
            <a:ext cx="2224405" cy="425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altLang="zh-CN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Indoor / outdoor mapping comparison experiments and failure-mode analysis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85916" y="1965960"/>
            <a:ext cx="2681478" cy="4023360"/>
          </a:xfrm>
          <a:prstGeom prst="rect">
            <a:avLst/>
          </a:prstGeom>
          <a:solidFill>
            <a:srgbClr val="F3F6FA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85916" y="1965960"/>
            <a:ext cx="2681478" cy="960120"/>
          </a:xfrm>
          <a:prstGeom prst="rect">
            <a:avLst/>
          </a:prstGeom>
          <a:solidFill>
            <a:srgbClr val="0E2A4A"/>
          </a:solidFill>
        </p:spPr>
      </p:sp>
      <p:sp>
        <p:nvSpPr>
          <p:cNvPr id="38" name="Text 36"/>
          <p:cNvSpPr/>
          <p:nvPr/>
        </p:nvSpPr>
        <p:spPr>
          <a:xfrm>
            <a:off x="6368796" y="2075688"/>
            <a:ext cx="240715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68796" y="2286000"/>
            <a:ext cx="240715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Wentian Li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368796" y="2624328"/>
            <a:ext cx="240715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00" i="1" dirty="0">
                <a:solidFill>
                  <a:srgbClr val="5DD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HMI &amp; UI </a:t>
            </a:r>
            <a:r>
              <a:rPr lang="en-US" sz="1000" i="1" dirty="0">
                <a:solidFill>
                  <a:srgbClr val="5DD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Lead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68796" y="3063240"/>
            <a:ext cx="24071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RESPONSIBILITIES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387084" y="3401568"/>
            <a:ext cx="73152" cy="73152"/>
          </a:xfrm>
          <a:prstGeom prst="ellipse">
            <a:avLst/>
          </a:prstGeom>
          <a:solidFill>
            <a:srgbClr val="00B7C7"/>
          </a:solidFill>
        </p:spPr>
      </p:sp>
      <p:sp>
        <p:nvSpPr>
          <p:cNvPr id="43" name="Text 41"/>
          <p:cNvSpPr/>
          <p:nvPr/>
        </p:nvSpPr>
        <p:spPr>
          <a:xfrm>
            <a:off x="6533388" y="3337560"/>
            <a:ext cx="222427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zh-CN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Operator UI design and implementation — live camera + YOLO overlay panel, map &amp; Nav goal panel, voice / control panel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87084" y="4087368"/>
            <a:ext cx="73152" cy="73152"/>
          </a:xfrm>
          <a:prstGeom prst="ellipse">
            <a:avLst/>
          </a:prstGeom>
          <a:solidFill>
            <a:srgbClr val="00B7C7"/>
          </a:solidFill>
        </p:spPr>
        <p:txBody>
          <a:bodyPr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533388" y="4023360"/>
            <a:ext cx="222427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zh-CN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On-screen status overlay — state badge, ToF distance bar, AMCL pose readout, voice ASR transcription stream</a:t>
            </a:r>
            <a:endParaRPr lang="zh-CN" altLang="en-US" sz="950" dirty="0">
              <a:solidFill>
                <a:srgbClr val="32445C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387084" y="4773168"/>
            <a:ext cx="73152" cy="73152"/>
          </a:xfrm>
          <a:prstGeom prst="ellipse">
            <a:avLst/>
          </a:prstGeom>
          <a:solidFill>
            <a:srgbClr val="00B7C7"/>
          </a:solidFill>
        </p:spPr>
      </p:sp>
      <p:sp>
        <p:nvSpPr>
          <p:cNvPr id="47" name="Text 45"/>
          <p:cNvSpPr/>
          <p:nvPr/>
        </p:nvSpPr>
        <p:spPr>
          <a:xfrm>
            <a:off x="6533388" y="4709160"/>
            <a:ext cx="222427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Robotic arm + gripper action clients (MoveArm, Gripper)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87719" y="5253863"/>
            <a:ext cx="73152" cy="73152"/>
          </a:xfrm>
          <a:prstGeom prst="ellipse">
            <a:avLst/>
          </a:prstGeom>
          <a:solidFill>
            <a:srgbClr val="00B7C7"/>
          </a:solidFill>
        </p:spPr>
        <p:txBody>
          <a:bodyPr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6533388" y="5180965"/>
            <a:ext cx="222427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ToF IR sensor integration &amp; grasp-trigger tuning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050274" y="1965960"/>
            <a:ext cx="2681478" cy="4023360"/>
          </a:xfrm>
          <a:prstGeom prst="rect">
            <a:avLst/>
          </a:prstGeom>
          <a:solidFill>
            <a:srgbClr val="F3F6FA"/>
          </a:solidFill>
          <a:effectLst>
            <a:outerShdw blurRad="127000" dist="25400" dir="5400000" algn="bl" rotWithShape="0">
              <a:srgbClr val="0E2A4A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9050274" y="1965960"/>
            <a:ext cx="2681478" cy="960120"/>
          </a:xfrm>
          <a:prstGeom prst="rect">
            <a:avLst/>
          </a:prstGeom>
          <a:solidFill>
            <a:srgbClr val="0E2A4A"/>
          </a:solidFill>
        </p:spPr>
      </p:sp>
      <p:sp>
        <p:nvSpPr>
          <p:cNvPr id="52" name="Text 50"/>
          <p:cNvSpPr/>
          <p:nvPr/>
        </p:nvSpPr>
        <p:spPr>
          <a:xfrm>
            <a:off x="9233154" y="2075688"/>
            <a:ext cx="240715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9233154" y="2286000"/>
            <a:ext cx="240715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Guanhong Chen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9233154" y="2624328"/>
            <a:ext cx="240715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00" i="1" dirty="0">
                <a:solidFill>
                  <a:srgbClr val="5DD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&amp; Voice Lead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233154" y="3063240"/>
            <a:ext cx="24071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RESPONSIBILITIES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9251442" y="3401568"/>
            <a:ext cx="73152" cy="73152"/>
          </a:xfrm>
          <a:prstGeom prst="ellipse">
            <a:avLst/>
          </a:prstGeom>
          <a:solidFill>
            <a:srgbClr val="00B7C7"/>
          </a:solidFill>
        </p:spPr>
      </p:sp>
      <p:sp>
        <p:nvSpPr>
          <p:cNvPr id="57" name="Text 55"/>
          <p:cNvSpPr/>
          <p:nvPr/>
        </p:nvSpPr>
        <p:spPr>
          <a:xfrm>
            <a:off x="9397746" y="3337560"/>
            <a:ext cx="222427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Vosk + ReSpeaker voice-control subprocess design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251442" y="4050538"/>
            <a:ext cx="73152" cy="73152"/>
          </a:xfrm>
          <a:prstGeom prst="ellipse">
            <a:avLst/>
          </a:prstGeom>
          <a:solidFill>
            <a:srgbClr val="00B7C7"/>
          </a:solidFill>
        </p:spPr>
      </p:sp>
      <p:sp>
        <p:nvSpPr>
          <p:cNvPr id="59" name="Text 57"/>
          <p:cNvSpPr/>
          <p:nvPr/>
        </p:nvSpPr>
        <p:spPr>
          <a:xfrm>
            <a:off x="9386951" y="3977640"/>
            <a:ext cx="222427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 pause/resume safety layer &amp; _wait_if_paused gate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9251442" y="4709033"/>
            <a:ext cx="73152" cy="73152"/>
          </a:xfrm>
          <a:prstGeom prst="ellipse">
            <a:avLst/>
          </a:prstGeom>
          <a:solidFill>
            <a:srgbClr val="00B7C7"/>
          </a:solidFill>
        </p:spPr>
      </p:sp>
      <p:sp>
        <p:nvSpPr>
          <p:cNvPr id="61" name="Text 59"/>
          <p:cNvSpPr/>
          <p:nvPr/>
        </p:nvSpPr>
        <p:spPr>
          <a:xfrm>
            <a:off x="9387586" y="4577080"/>
            <a:ext cx="222427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Operator UI mockups and on-screen status overlay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9254617" y="5253863"/>
            <a:ext cx="73152" cy="73152"/>
          </a:xfrm>
          <a:prstGeom prst="ellipse">
            <a:avLst/>
          </a:prstGeom>
          <a:solidFill>
            <a:srgbClr val="00B7C7"/>
          </a:solidFill>
        </p:spPr>
      </p:sp>
      <p:sp>
        <p:nvSpPr>
          <p:cNvPr id="63" name="Text 61"/>
          <p:cNvSpPr/>
          <p:nvPr/>
        </p:nvSpPr>
        <p:spPr>
          <a:xfrm>
            <a:off x="9388221" y="5140960"/>
            <a:ext cx="222427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system integration, packaging &amp; field testing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6172200"/>
            <a:ext cx="11274552" cy="292608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65" name="Text 63"/>
          <p:cNvSpPr/>
          <p:nvPr/>
        </p:nvSpPr>
        <p:spPr>
          <a:xfrm>
            <a:off x="640080" y="61722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EFFORT  </a:t>
            </a:r>
            <a:r>
              <a:rPr lang="en-US" sz="950" dirty="0">
                <a:solidFill>
                  <a:srgbClr val="0E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 building, on-court testing, demo recording and final paper / slide preparation were carried out jointly by all four members.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2A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</a:t>
            </a:r>
            <a:r>
              <a:rPr lang="en-US" sz="1000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/ 21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616952" y="64465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849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17 · TENNIS-BOT</a:t>
            </a:r>
            <a:endParaRPr lang="en-US" sz="800" dirty="0"/>
          </a:p>
        </p:txBody>
      </p:sp>
      <p:sp>
        <p:nvSpPr>
          <p:cNvPr id="72" name="文本框 71"/>
          <p:cNvSpPr txBox="1"/>
          <p:nvPr/>
        </p:nvSpPr>
        <p:spPr>
          <a:xfrm>
            <a:off x="727075" y="5253990"/>
            <a:ext cx="2407285" cy="383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ROS 2 environment configuration on Jetson Orin NX</a:t>
            </a:r>
            <a:r>
              <a:rPr lang="en-US" altLang="zh-CN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</a:t>
            </a:r>
            <a:endParaRPr lang="en-US" altLang="zh-CN" sz="950" dirty="0">
              <a:solidFill>
                <a:srgbClr val="32445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73" name="Shape 18"/>
          <p:cNvSpPr/>
          <p:nvPr/>
        </p:nvSpPr>
        <p:spPr>
          <a:xfrm>
            <a:off x="659003" y="5780913"/>
            <a:ext cx="73152" cy="73152"/>
          </a:xfrm>
          <a:prstGeom prst="ellipse">
            <a:avLst/>
          </a:prstGeom>
          <a:solidFill>
            <a:srgbClr val="00B7C7"/>
          </a:solidFill>
        </p:spPr>
      </p:sp>
      <p:sp>
        <p:nvSpPr>
          <p:cNvPr id="74" name="文本框 73"/>
          <p:cNvSpPr txBox="1"/>
          <p:nvPr/>
        </p:nvSpPr>
        <p:spPr>
          <a:xfrm>
            <a:off x="732155" y="5698490"/>
            <a:ext cx="970915" cy="237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PPT slide design</a:t>
            </a:r>
            <a:endParaRPr lang="en-US" altLang="zh-CN" sz="950" dirty="0">
              <a:solidFill>
                <a:srgbClr val="32445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75" name="Shape 18"/>
          <p:cNvSpPr/>
          <p:nvPr/>
        </p:nvSpPr>
        <p:spPr>
          <a:xfrm>
            <a:off x="3504438" y="5698363"/>
            <a:ext cx="73152" cy="73152"/>
          </a:xfrm>
          <a:prstGeom prst="ellipse">
            <a:avLst/>
          </a:prstGeom>
          <a:solidFill>
            <a:srgbClr val="00B7C7"/>
          </a:solidFill>
        </p:spPr>
        <p:txBody>
          <a:bodyPr/>
          <a:p>
            <a:endParaRPr lang="zh-CN" altLang="en-US"/>
          </a:p>
        </p:txBody>
      </p:sp>
      <p:sp>
        <p:nvSpPr>
          <p:cNvPr id="76" name="文本框 75"/>
          <p:cNvSpPr txBox="1"/>
          <p:nvPr/>
        </p:nvSpPr>
        <p:spPr>
          <a:xfrm>
            <a:off x="3601085" y="5603240"/>
            <a:ext cx="240157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Demo recording, screen capture, and final video post-production</a:t>
            </a:r>
            <a:endParaRPr lang="en-US" altLang="zh-CN" sz="950" dirty="0">
              <a:solidFill>
                <a:srgbClr val="32445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77" name="Shape 18"/>
          <p:cNvSpPr/>
          <p:nvPr/>
        </p:nvSpPr>
        <p:spPr>
          <a:xfrm>
            <a:off x="6387465" y="5698490"/>
            <a:ext cx="76200" cy="76200"/>
          </a:xfrm>
          <a:prstGeom prst="ellipse">
            <a:avLst/>
          </a:prstGeom>
          <a:solidFill>
            <a:srgbClr val="00B7C7"/>
          </a:solidFill>
        </p:spPr>
        <p:txBody>
          <a:bodyPr/>
          <a:p>
            <a:endParaRPr lang="zh-CN" altLang="en-US"/>
          </a:p>
        </p:txBody>
      </p:sp>
      <p:sp>
        <p:nvSpPr>
          <p:cNvPr id="78" name="Shape 18"/>
          <p:cNvSpPr/>
          <p:nvPr/>
        </p:nvSpPr>
        <p:spPr>
          <a:xfrm>
            <a:off x="9251315" y="5781040"/>
            <a:ext cx="76200" cy="76200"/>
          </a:xfrm>
          <a:prstGeom prst="ellipse">
            <a:avLst/>
          </a:prstGeom>
          <a:solidFill>
            <a:srgbClr val="00B7C7"/>
          </a:solidFill>
        </p:spPr>
        <p:txBody>
          <a:bodyPr/>
          <a:p>
            <a:endParaRPr lang="zh-CN" altLang="en-US"/>
          </a:p>
        </p:txBody>
      </p:sp>
      <p:sp>
        <p:nvSpPr>
          <p:cNvPr id="79" name="文本框 78"/>
          <p:cNvSpPr txBox="1"/>
          <p:nvPr/>
        </p:nvSpPr>
        <p:spPr>
          <a:xfrm>
            <a:off x="6460490" y="5602605"/>
            <a:ext cx="2578735" cy="418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Demo recording, screen capture, and final </a:t>
            </a:r>
            <a:r>
              <a:rPr lang="en-US" altLang="zh-CN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project report </a:t>
            </a:r>
            <a:endParaRPr lang="en-US" altLang="zh-CN" sz="950" dirty="0">
              <a:solidFill>
                <a:srgbClr val="32445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9387205" y="5637530"/>
            <a:ext cx="2388870" cy="383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950" dirty="0">
                <a:solidFill>
                  <a:srgbClr val="324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Demo recording, screen capture, and final project report </a:t>
            </a:r>
            <a:endParaRPr lang="en-US" altLang="zh-CN" sz="950" dirty="0">
              <a:solidFill>
                <a:srgbClr val="32445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ChatGPT Image 2026年5月15日 14_37_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0970" y="947420"/>
            <a:ext cx="6856095" cy="386016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4114800" cy="45720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3" name="Shape 1"/>
          <p:cNvSpPr/>
          <p:nvPr/>
        </p:nvSpPr>
        <p:spPr>
          <a:xfrm>
            <a:off x="502920" y="1371600"/>
            <a:ext cx="54864" cy="3657600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4" name="Text 2"/>
          <p:cNvSpPr/>
          <p:nvPr/>
        </p:nvSpPr>
        <p:spPr>
          <a:xfrm>
            <a:off x="777240" y="13716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0B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 OF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82296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777240" y="31089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5DDDE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Questions &amp; Discussion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3877310"/>
            <a:ext cx="10515600" cy="623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Team Members: 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Yanshan Wang, Wenxin </a:t>
            </a:r>
            <a:r>
              <a:rPr lang="en-US" altLang="zh-CN" sz="1200" b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Xiao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, Wentian Li, Guanhong Che</a:t>
            </a: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n</a:t>
            </a:r>
            <a:endParaRPr lang="en-US" altLang="zh-CN" sz="12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200" i="1" dirty="0">
              <a:solidFill>
                <a:srgbClr val="8FA5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200" i="1" dirty="0">
                <a:solidFill>
                  <a:srgbClr val="8FA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17 · Tennis-Bot — Robotics &amp; Embedded Systems Project ·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4663440"/>
            <a:ext cx="868680" cy="310896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00B7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663440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5DD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ROS 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691640" y="4663440"/>
            <a:ext cx="868680" cy="310896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00B7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663440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5DD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YOLOv5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06040" y="4663440"/>
            <a:ext cx="868680" cy="310896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00B7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4663440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5DD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520440" y="4663440"/>
            <a:ext cx="868680" cy="310896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00B7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4663440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5DD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SLAM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34840" y="4663440"/>
            <a:ext cx="868680" cy="310896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00B7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4663440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5DD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Vosk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349240" y="4663440"/>
            <a:ext cx="868680" cy="310896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00B7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4663440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5DD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Orin NX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63640" y="4663440"/>
            <a:ext cx="868680" cy="310896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00B7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4663440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5DD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DJI EP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78040" y="4663440"/>
            <a:ext cx="868680" cy="310896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00B7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4663440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5DD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ReSpeaker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B7C7"/>
          </a:solidFill>
        </p:spPr>
      </p:sp>
      <p:sp>
        <p:nvSpPr>
          <p:cNvPr id="26" name="Text 23"/>
          <p:cNvSpPr/>
          <p:nvPr/>
        </p:nvSpPr>
        <p:spPr>
          <a:xfrm>
            <a:off x="8531352" y="63550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8497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GROUP 17 </a:t>
            </a:r>
            <a:endParaRPr lang="en-US" sz="1000" dirty="0"/>
          </a:p>
        </p:txBody>
      </p:sp>
      <p:grpSp>
        <p:nvGrpSpPr>
          <p:cNvPr id="27" name="组合 26"/>
          <p:cNvGrpSpPr/>
          <p:nvPr/>
        </p:nvGrpSpPr>
        <p:grpSpPr>
          <a:xfrm>
            <a:off x="9783445" y="74930"/>
            <a:ext cx="2293620" cy="704822"/>
            <a:chOff x="4774950" y="460939"/>
            <a:chExt cx="5195069" cy="1575852"/>
          </a:xfrm>
        </p:grpSpPr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774950" y="460939"/>
              <a:ext cx="1575559" cy="1575852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327204" y="765822"/>
              <a:ext cx="3642815" cy="9614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9.55,&quot;left&quot;:-0.35,&quot;top&quot;:263.4,&quot;width&quot;:541.67}"/>
</p:tagLst>
</file>

<file path=ppt/tags/tag2.xml><?xml version="1.0" encoding="utf-8"?>
<p:tagLst xmlns:p="http://schemas.openxmlformats.org/presentationml/2006/main">
  <p:tag name="KSO_WM_DIAGRAM_VIRTUALLY_FRAME" val="{&quot;height&quot;:169.55,&quot;left&quot;:-0.35,&quot;top&quot;:263.4,&quot;width&quot;:541.67}"/>
</p:tagLst>
</file>

<file path=ppt/tags/tag3.xml><?xml version="1.0" encoding="utf-8"?>
<p:tagLst xmlns:p="http://schemas.openxmlformats.org/presentationml/2006/main">
  <p:tag name="KSO_WM_DIAGRAM_VIRTUALLY_FRAME" val="{&quot;height&quot;:169.55,&quot;left&quot;:-0.35,&quot;top&quot;:263.4,&quot;width&quot;:541.67}"/>
</p:tagLst>
</file>

<file path=ppt/tags/tag4.xml><?xml version="1.0" encoding="utf-8"?>
<p:tagLst xmlns:p="http://schemas.openxmlformats.org/presentationml/2006/main">
  <p:tag name="KSO_WM_DIAGRAM_VIRTUALLY_FRAME" val="{&quot;height&quot;:169.55,&quot;left&quot;:-0.35,&quot;top&quot;:263.4,&quot;width&quot;:541.67}"/>
</p:tagLst>
</file>

<file path=ppt/tags/tag5.xml><?xml version="1.0" encoding="utf-8"?>
<p:tagLst xmlns:p="http://schemas.openxmlformats.org/presentationml/2006/main">
  <p:tag name="KSO_WM_DIAGRAM_VIRTUALLY_FRAME" val="{&quot;height&quot;:169.55,&quot;left&quot;:-0.35,&quot;top&quot;:263.4,&quot;width&quot;:541.67}"/>
</p:tagLst>
</file>

<file path=ppt/tags/tag6.xml><?xml version="1.0" encoding="utf-8"?>
<p:tagLst xmlns:p="http://schemas.openxmlformats.org/presentationml/2006/main">
  <p:tag name="KSO_WM_DIAGRAM_VIRTUALLY_FRAME" val="{&quot;height&quot;:169.55,&quot;left&quot;:-0.35,&quot;top&quot;:263.4,&quot;width&quot;:541.67}"/>
</p:tagLst>
</file>

<file path=ppt/tags/tag7.xml><?xml version="1.0" encoding="utf-8"?>
<p:tagLst xmlns:p="http://schemas.openxmlformats.org/presentationml/2006/main">
  <p:tag name="KSO_WM_DIAGRAM_VIRTUALLY_FRAME" val="{&quot;height&quot;:169.55,&quot;left&quot;:-0.35,&quot;top&quot;:263.4,&quot;width&quot;:541.67}"/>
</p:tagLst>
</file>

<file path=ppt/tags/tag8.xml><?xml version="1.0" encoding="utf-8"?>
<p:tagLst xmlns:p="http://schemas.openxmlformats.org/presentationml/2006/main">
  <p:tag name="KSO_WM_DIAGRAM_VIRTUALLY_FRAME" val="{&quot;height&quot;:169.55,&quot;left&quot;:-0.35,&quot;top&quot;:263.4,&quot;width&quot;:541.67}"/>
</p:tagLst>
</file>

<file path=ppt/tags/tag9.xml><?xml version="1.0" encoding="utf-8"?>
<p:tagLst xmlns:p="http://schemas.openxmlformats.org/presentationml/2006/main">
  <p:tag name="KSO_WM_DIAGRAM_VIRTUALLY_FRAME" val="{&quot;height&quot;:169.55,&quot;left&quot;:-0.35,&quot;top&quot;:263.4,&quot;width&quot;:541.67}"/>
</p:tagLst>
</file>

<file path=ppt/tags/tag10.xml><?xml version="1.0" encoding="utf-8"?>
<p:tagLst xmlns:p="http://schemas.openxmlformats.org/presentationml/2006/main">
  <p:tag name="KSO_WM_DIAGRAM_VIRTUALLY_FRAME" val="{&quot;height&quot;:169.55,&quot;left&quot;:-0.35,&quot;top&quot;:263.4,&quot;width&quot;:541.67}"/>
</p:tagLst>
</file>

<file path=ppt/tags/tag11.xml><?xml version="1.0" encoding="utf-8"?>
<p:tagLst xmlns:p="http://schemas.openxmlformats.org/presentationml/2006/main">
  <p:tag name="KSO_WM_DIAGRAM_VIRTUALLY_FRAME" val="{&quot;height&quot;:169.55,&quot;left&quot;:-0.35,&quot;top&quot;:263.4,&quot;width&quot;:541.67}"/>
</p:tagLst>
</file>

<file path=ppt/tags/tag12.xml><?xml version="1.0" encoding="utf-8"?>
<p:tagLst xmlns:p="http://schemas.openxmlformats.org/presentationml/2006/main">
  <p:tag name="KSO_WM_DIAGRAM_VIRTUALLY_FRAME" val="{&quot;height&quot;:169.55,&quot;left&quot;:-0.35,&quot;top&quot;:263.4,&quot;width&quot;:541.67}"/>
</p:tagLst>
</file>

<file path=ppt/tags/tag13.xml><?xml version="1.0" encoding="utf-8"?>
<p:tagLst xmlns:p="http://schemas.openxmlformats.org/presentationml/2006/main">
  <p:tag name="KSO_WM_DIAGRAM_VIRTUALLY_FRAME" val="{&quot;height&quot;:169.55,&quot;left&quot;:-0.35,&quot;top&quot;:263.4,&quot;width&quot;:541.67}"/>
</p:tagLst>
</file>

<file path=ppt/tags/tag14.xml><?xml version="1.0" encoding="utf-8"?>
<p:tagLst xmlns:p="http://schemas.openxmlformats.org/presentationml/2006/main">
  <p:tag name="KSO_WM_DIAGRAM_VIRTUALLY_FRAME" val="{&quot;height&quot;:169.55,&quot;left&quot;:-0.35,&quot;top&quot;:263.4,&quot;width&quot;:541.67}"/>
</p:tagLst>
</file>

<file path=ppt/tags/tag15.xml><?xml version="1.0" encoding="utf-8"?>
<p:tagLst xmlns:p="http://schemas.openxmlformats.org/presentationml/2006/main">
  <p:tag name="KSO_WM_DIAGRAM_VIRTUALLY_FRAME" val="{&quot;height&quot;:169.55,&quot;left&quot;:-0.35,&quot;top&quot;:263.4,&quot;width&quot;:541.67}"/>
</p:tagLst>
</file>

<file path=ppt/tags/tag16.xml><?xml version="1.0" encoding="utf-8"?>
<p:tagLst xmlns:p="http://schemas.openxmlformats.org/presentationml/2006/main">
  <p:tag name="KSO_WM_DIAGRAM_VIRTUALLY_FRAME" val="{&quot;height&quot;:488.15,&quot;left&quot;:24.65,&quot;top&quot;:19.45,&quot;width&quot;:912.15}"/>
</p:tagLst>
</file>

<file path=ppt/tags/tag17.xml><?xml version="1.0" encoding="utf-8"?>
<p:tagLst xmlns:p="http://schemas.openxmlformats.org/presentationml/2006/main">
  <p:tag name="KSO_WM_DIAGRAM_VIRTUALLY_FRAME" val="{&quot;height&quot;:488.15,&quot;left&quot;:24.65,&quot;top&quot;:19.45,&quot;width&quot;:912.15}"/>
</p:tagLst>
</file>

<file path=ppt/tags/tag18.xml><?xml version="1.0" encoding="utf-8"?>
<p:tagLst xmlns:p="http://schemas.openxmlformats.org/presentationml/2006/main">
  <p:tag name="KSO_WM_DIAGRAM_VIRTUALLY_FRAME" val="{&quot;height&quot;:488.15,&quot;left&quot;:24.65,&quot;top&quot;:19.45,&quot;width&quot;:912.15}"/>
</p:tagLst>
</file>

<file path=ppt/tags/tag19.xml><?xml version="1.0" encoding="utf-8"?>
<p:tagLst xmlns:p="http://schemas.openxmlformats.org/presentationml/2006/main">
  <p:tag name="KSO_WM_DIAGRAM_VIRTUALLY_FRAME" val="{&quot;height&quot;:434.15,&quot;left&quot;:36,&quot;top&quot;:19.45,&quot;width&quot;:887.7599999999999}"/>
</p:tagLst>
</file>

<file path=ppt/tags/tag20.xml><?xml version="1.0" encoding="utf-8"?>
<p:tagLst xmlns:p="http://schemas.openxmlformats.org/presentationml/2006/main">
  <p:tag name="KSO_WM_DIAGRAM_VIRTUALLY_FRAME" val="{&quot;height&quot;:488.15,&quot;left&quot;:24.65,&quot;top&quot;:19.45,&quot;width&quot;:912.15}"/>
</p:tagLst>
</file>

<file path=ppt/tags/tag21.xml><?xml version="1.0" encoding="utf-8"?>
<p:tagLst xmlns:p="http://schemas.openxmlformats.org/presentationml/2006/main">
  <p:tag name="KSO_WM_DIAGRAM_VIRTUALLY_FRAME" val="{&quot;height&quot;:488.15,&quot;left&quot;:24.65,&quot;top&quot;:19.45,&quot;width&quot;:912.15}"/>
</p:tagLst>
</file>

<file path=ppt/tags/tag22.xml><?xml version="1.0" encoding="utf-8"?>
<p:tagLst xmlns:p="http://schemas.openxmlformats.org/presentationml/2006/main">
  <p:tag name="KSO_WM_DIAGRAM_VIRTUALLY_FRAME" val="{&quot;height&quot;:488.15,&quot;left&quot;:24.65,&quot;top&quot;:19.45,&quot;width&quot;:912.15}"/>
</p:tagLst>
</file>

<file path=ppt/tags/tag23.xml><?xml version="1.0" encoding="utf-8"?>
<p:tagLst xmlns:p="http://schemas.openxmlformats.org/presentationml/2006/main">
  <p:tag name="KSO_WM_DIAGRAM_VIRTUALLY_FRAME" val="{&quot;height&quot;:488.15,&quot;left&quot;:24.65,&quot;top&quot;:19.45,&quot;width&quot;:912.15}"/>
</p:tagLst>
</file>

<file path=ppt/tags/tag24.xml><?xml version="1.0" encoding="utf-8"?>
<p:tagLst xmlns:p="http://schemas.openxmlformats.org/presentationml/2006/main">
  <p:tag name="KSO_WM_DIAGRAM_VIRTUALLY_FRAME" val="{&quot;height&quot;:488.15,&quot;left&quot;:24.65,&quot;top&quot;:19.45,&quot;width&quot;:912.15}"/>
</p:tagLst>
</file>

<file path=ppt/tags/tag25.xml><?xml version="1.0" encoding="utf-8"?>
<p:tagLst xmlns:p="http://schemas.openxmlformats.org/presentationml/2006/main">
  <p:tag name="KSO_WM_DIAGRAM_VIRTUALLY_FRAME" val="{&quot;height&quot;:434.15,&quot;left&quot;:36,&quot;top&quot;:19.45,&quot;width&quot;:887.7599999999999}"/>
</p:tagLst>
</file>

<file path=ppt/tags/tag26.xml><?xml version="1.0" encoding="utf-8"?>
<p:tagLst xmlns:p="http://schemas.openxmlformats.org/presentationml/2006/main">
  <p:tag name="KSO_WM_DIAGRAM_VIRTUALLY_FRAME" val="{&quot;height&quot;:488.15,&quot;left&quot;:24.65,&quot;top&quot;:19.45,&quot;width&quot;:912.15}"/>
</p:tagLst>
</file>

<file path=ppt/tags/tag27.xml><?xml version="1.0" encoding="utf-8"?>
<p:tagLst xmlns:p="http://schemas.openxmlformats.org/presentationml/2006/main">
  <p:tag name="KSO_WM_DIAGRAM_VIRTUALLY_FRAME" val="{&quot;height&quot;:488.15,&quot;left&quot;:24.65,&quot;top&quot;:19.45,&quot;width&quot;:912.15}"/>
</p:tagLst>
</file>

<file path=ppt/tags/tag28.xml><?xml version="1.0" encoding="utf-8"?>
<p:tagLst xmlns:p="http://schemas.openxmlformats.org/presentationml/2006/main">
  <p:tag name="KSO_WM_DIAGRAM_VIRTUALLY_FRAME" val="{&quot;height&quot;:488.15,&quot;left&quot;:24.65,&quot;top&quot;:19.45,&quot;width&quot;:912.15}"/>
</p:tagLst>
</file>

<file path=ppt/tags/tag29.xml><?xml version="1.0" encoding="utf-8"?>
<p:tagLst xmlns:p="http://schemas.openxmlformats.org/presentationml/2006/main">
  <p:tag name="KSO_WM_DIAGRAM_VIRTUALLY_FRAME" val="{&quot;height&quot;:488.15,&quot;left&quot;:24.65,&quot;top&quot;:19.45,&quot;width&quot;:912.15}"/>
</p:tagLst>
</file>

<file path=ppt/tags/tag30.xml><?xml version="1.0" encoding="utf-8"?>
<p:tagLst xmlns:p="http://schemas.openxmlformats.org/presentationml/2006/main">
  <p:tag name="KSO_WM_DIAGRAM_VIRTUALLY_FRAME" val="{&quot;height&quot;:488.15,&quot;left&quot;:24.65,&quot;top&quot;:19.45,&quot;width&quot;:912.15}"/>
</p:tagLst>
</file>

<file path=ppt/tags/tag31.xml><?xml version="1.0" encoding="utf-8"?>
<p:tagLst xmlns:p="http://schemas.openxmlformats.org/presentationml/2006/main">
  <p:tag name="KSO_WM_DIAGRAM_VIRTUALLY_FRAME" val="{&quot;height&quot;:488.15,&quot;left&quot;:24.65,&quot;top&quot;:19.45,&quot;width&quot;:912.15}"/>
</p:tagLst>
</file>

<file path=ppt/tags/tag32.xml><?xml version="1.0" encoding="utf-8"?>
<p:tagLst xmlns:p="http://schemas.openxmlformats.org/presentationml/2006/main">
  <p:tag name="KSO_WM_DIAGRAM_VIRTUALLY_FRAME" val="{&quot;height&quot;:488.15,&quot;left&quot;:24.65,&quot;top&quot;:19.45,&quot;width&quot;:912.15}"/>
</p:tagLst>
</file>

<file path=ppt/tags/tag33.xml><?xml version="1.0" encoding="utf-8"?>
<p:tagLst xmlns:p="http://schemas.openxmlformats.org/presentationml/2006/main">
  <p:tag name="KSO_WM_DIAGRAM_VIRTUALLY_FRAME" val="{&quot;height&quot;:488.15,&quot;left&quot;:24.65,&quot;top&quot;:19.45,&quot;width&quot;:912.15}"/>
</p:tagLst>
</file>

<file path=ppt/tags/tag34.xml><?xml version="1.0" encoding="utf-8"?>
<p:tagLst xmlns:p="http://schemas.openxmlformats.org/presentationml/2006/main">
  <p:tag name="KSO_WM_DIAGRAM_VIRTUALLY_FRAME" val="{&quot;height&quot;:488.15,&quot;left&quot;:24.65,&quot;top&quot;:19.45,&quot;width&quot;:912.1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17731</Words>
  <Application>WPS 演示</Application>
  <PresentationFormat>On-screen Show (16:9)</PresentationFormat>
  <Paragraphs>1084</Paragraphs>
  <Slides>21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40" baseType="lpstr">
      <vt:lpstr>Arial</vt:lpstr>
      <vt:lpstr>宋体</vt:lpstr>
      <vt:lpstr>Wingdings</vt:lpstr>
      <vt:lpstr>Calibri</vt:lpstr>
      <vt:lpstr>Calibri</vt:lpstr>
      <vt:lpstr>Calibri</vt:lpstr>
      <vt:lpstr>Georgia</vt:lpstr>
      <vt:lpstr>Georgia</vt:lpstr>
      <vt:lpstr>Georgia</vt:lpstr>
      <vt:lpstr>Consolas</vt:lpstr>
      <vt:lpstr>Consolas</vt:lpstr>
      <vt:lpstr>Consolas</vt:lpstr>
      <vt:lpstr>微软雅黑</vt:lpstr>
      <vt:lpstr>Arial Unicode MS</vt:lpstr>
      <vt:lpstr>等线</vt:lpstr>
      <vt:lpstr>Times New Roman</vt:lpstr>
      <vt:lpstr>MS PGothic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Tennis Pick &amp; Place Robot — Group 17</dc:title>
  <dc:creator>Group 17</dc:creator>
  <dc:subject>PptxGenJS Presentation</dc:subject>
  <cp:lastModifiedBy>李军</cp:lastModifiedBy>
  <cp:revision>71</cp:revision>
  <dcterms:created xsi:type="dcterms:W3CDTF">2026-05-15T05:21:00Z</dcterms:created>
  <dcterms:modified xsi:type="dcterms:W3CDTF">2026-05-30T16:40:20Z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9D014D03FF694F1B91D59823C6BAA628_12</vt:lpwstr>
  </property>
</Properties>
</file>